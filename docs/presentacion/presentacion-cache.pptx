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261" r:id="rId7"/>
    <p:sldId id="263" r:id="rId9"/>
    <p:sldId id="264" r:id="rId10"/>
    <p:sldId id="267" r:id="rId13"/>
    <p:sldId id="262" r:id="rId8"/>
    <p:sldId id="265" r:id="rId11"/>
    <p:sldId id="266" r:id="rId12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Sebastian · Arquitectura y flujo exitoso (6:30)" id="{723e9748-5745-c5c6-48f5-a0e9d2ebcac7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2 · Jhon Eduardo · Estrategia, fallas y hallazgo (6:30)" id="{cbef15dc-128b-9e0d-df5f-6f5142f4acb8}">
          <p14:sldIdLst>
            <p14:sldId id="263"/>
            <p14:sldId id="264"/>
            <p14:sldId id="265"/>
            <p14:sldId id="266"/>
          </p14:sldIdLst>
        </p14:section>
        <p14:section name="3 · Robin · Casos, pruebas y resultados (6:00)" id="{f1817d2c-f4d5-2e71-158e-d7c387b5ac2d}">
          <p14:sldIdLst>
            <p14:sldId id="267"/>
            <p14:sldId id="268"/>
            <p14:sldId id="269"/>
            <p14:sldId id="270"/>
            <p14:sldId id="271"/>
          </p14:sldIdLst>
        </p14:section>
        <p14:section name="Preguntas (1 min)" id="{9ea4f2e7-f68f-2a39-2685-89c3c6e98766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Sebastian (45 s). Buenos días. Somos Sebastian Villa Castillo, Jhon Eduardo Zabala Garzon, Robin Alexander Montoya Velasquez. Nuestro tema es el 14: pruebas de una arquitectura con caché. Construimos una API de productos que usa Redis como caché y PostgreSQL como base de datos, y sobre ella diseñamos, automatizamos y ejecutamos pruebas de integración y de sistema. La guía pide demostrar cuatro cosas: la consulta (CP-01), la actualización con invalidación (CP-02 y CP-07), qué pasa cuando la caché falla (CP-05 y CP-08) y qué pasa con los datos desactualizados (CP-06). Primero explicamos la arquitectura, la estrategia y los casos; después lo mostramos funcionando en vivo, y al final los resultados.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Sebastian (75 s). Son tres componentes: la API en Node con Express, Redis como caché y PostgreSQL como fuente de verdad, en contenedores con Docker Compose. Usamos cache-aside: la API decide cuándo leer, llenar y borrar la caché; Redis y PostgreSQL nunca se hablan entre sí. Se eligió frente a write-through y write-behind porque es el más simple y la BD sigue siendo la fuente de verdad. Al leer busca en Redis; si no está (MISS), va a PostgreSQL, normaliza el precio (PostgreSQL lo devuelve como texto) y lo guarda con TTL de 60 s, así el HIT devuelve exactamente el mismo JSON (R5, CP-01). Un 404 no se guarda (R4). Al escribir actualiza PostgreSQL y borra la llave, para que la caché solo se llene desde la BD (R1). Si Redis está caído, la API lee de PostgreSQL y responde BYPASS (R3). El header X-Cache dice de dónde salió cada respuesta; con él comprobamos todo en las pruebas, y estos flujos los van a ver en vivo en la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Sebastian (60 s). Hay cuatro puntos donde la integración puede fallar. PI-1, API y Redis: leer, guardar con TTL y borrar, y que un fallo de Redis no llegue a la API. PI-2, API y PostgreSQL: consultas parametrizadas y el tipo del precio. PI-3, cliente y API: rutas, códigos y el header X-Cache. PI-4 es la coherencia entre caché y BD; no es una conexión real, se verifica comparando lo que responde la API con lo que hay en la BD. Jhon Eduardo explica cómo lo probamos.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Sebastian (2:30). La API ya está corriendo con npm start en la terminal 1. En la terminal 2: (1) curl -i http://localhost:3000/productos/1 y señalar X-Cache: MISS y la línea del log. (2) Repetir: HIT y mismo cuerpo. (3) npm run redis:inspeccionar: la llave producto:1 con su TTL; esto muestra la comunicación API-Redis. (4) PUT con el comando del guion y otro GET: MISS con el precio nuevo. (5) Abrir api/src/rutas-productos.ts y señalar el GET (cache.get, buscarPorId, cache.set) y el PUT (actualizar, cache.del), 30 s. Cerrar: "Ahora Jhon Eduardo provoca las fallas."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Jhon Eduardo (90 s). Definimos la estrategia antes de ejecutar; el documento tiene los diez elementos de la guía. Cuatro decisiones: usamos PostgreSQL y Redis reales, sin mocks, porque un mock no reproduce el TTL ni los errores de conexión. Las fallas se provocan sobre los contenedores reales: docker stop, docker pause y un UPDATE directo con psql. Antes y después de cada caso, Redis vacío y los cuatro productos semilla, así ninguna prueba depende de otra. Un caso se aprueba solo si todas sus comprobaciones se cumplen y queda evidencia; con Redis caído exigimos responder en menos de un segundo.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Jhon Eduardo (60 s). Siete riesgos, cada uno con mitigación y caso. R1, que un PUT no invalide: se borra la llave. R3, que Redis caído o lento bloquee la API: sin cola fuera de línea y con timeout de 500 ms. R2, el dato viejo por escrituras externas, no se elimina: se acota con el TTL de 60 s. R6: toda llave se guarda con su TTL en la misma operación. Robin presenta los casos que verifican cada riesgo.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Jhon Eduardo (3:30). Terminal 1: la API; terminal 2: los scripts. Cada script se detiene antes de cada paso: decir qué se va a provocar y pulsar Enter. (1) Ctrl+C en la terminal 1 y npm run demo:api: misma API con TTL de 20 s para no esperar un minuto. (2) npm run demo:cp-08: señalar la línea $ docker stop lab-cache-redis, el BYPASS en milisegundos, /health degraded y en la terminal 1 los errores ECONNREFUSED de la caché sin que la API falle. Enter: $ docker start; Redis vuelve vacío porque no guarda en disco; la API se reconecta sola: MISS y luego HIT. (3) npm run demo:cp-06: señalar el UPDATE directo con psql (otro sistema que no pasa por la API), la respuesta HIT con 99000 y la consulta a la BD con 104000: dato desactualizado. Enter en la espera del TTL y, mientras baja, abrir api/src/cache.ts (30 s): disableOfflineQueue, withTimeout y que get/set/del devuelven ERROR. Volver: MISS con 104000. Eso conecta con el hallazgo.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Jhon Eduardo (60 s). Medimos qué pasa cuando Redis falla con dos configuraciones del cliente (npm run hallazgo:cliente-redis). Por defecto, con Redis detenido la petición espera 5 s y lanza un error, que sin manejo sería un 500; con Redis congelado no responde nunca (cortamos a los 10 s). Con nuestra configuración, detenido responde BYPASS en 1 ms y congelado en 500 ms. Desactivar la cola resuelve la caída, no la lentitud; la lentitud solo la resuelve el timeout. Se necesitan las dos. Robin muestra las pruebas automatizadas y los resultados.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Robin (90 s). Ocho casos propios, cada uno con los doce campos de la guía en la matriz. Seis de integración, porque prueban la API con Redis o PostgreSQL, y dos de sistema, porque recorren un flujo completo: CP-07 y CP-08. Cubrimos exitosos, datos inválidos, error funcional y fallas técnicas. Seis están automatizados con Jest; los resaltados son los tres mínimos de la guía. CP-06 y CP-08 se ejecutan con scripts porque esperan el TTL o reinician Redis; los van a ver en vivo en la demo de Jhon Eduardo, en modo paso a paso. Pasamos a la demostración: Sebastian muestra el laboratorio funcionando.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Robin (2:30). (1) npm test; mientras corre, explicar que cada prueba deja Redis vacío y la tabla con los 4 productos antes y después. (2) Mostrar 3 suites y 6 pruebas aprobadas; los ECONNREFUSED son esperados porque CP-05 detiene Redis. (3) Abrir docs/evidencias/reporte-jest.json y CP-05_redis-caido-bypass_automatizado.txt. (4) Abrir tests/integration/redis-caido.test.ts, 30 s: docker stop, las comprobaciones de BYPASS y tiempo, y el finally que levanta Redis.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Robin (45 s). Sobre un entorno limpio aprobaron los ocho casos: en Jest, tres suites y seis pruebas, ninguna fallida. En la tabla, cuatro ejemplos de esperado frente a obtenido; con Redis detenido la respuesta fue BYPASS en 12 ms, muy por debajo del límite de un segundo. Si una prueba fallara, Jest termina con código distinto de cero y el reporte guarda el mensaje de la comprobación que no se cumplió.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Robin (45 s). Tiempos que registró la API según el origen: HIT entre 0 y 2 ms, MISS entre 1 y 4, BYPASS entre 1 y 2. Con Redis detenido el BYPASS es tan rápido porque, como explicó Jhon Eduardo, el comando falla de inmediato. Son mediciones puntuales en local, no una prueba de carga: no sacamos conclusiones de rendimiento.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Robin (30 s). Cuatro ideas: cache-aside funcionó como se diseñó; invalidar en cada escritura evita datos viejos por la API, pero las escrituras externas solo las acota el TTL; que la API sobreviva a la caída de la caché depende de cómo se configura el cliente, y eso solo lo descubrimos probando con el Redis real; y los tiempos no permiten hablar de rendimiento bajo carga. Gracias; ¿preguntas?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(1 min). El docente puede preguntarle a cualquiera sobre cualquier parte: arquitectura, código, configuración o casos.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109441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100" dirty="0">
                <a:solidFill>
                  <a:schemeClr val="accent4"/>
                </a:solidFill>
              </a:defRPr>
            </a:lvl1pPr>
          </a:lstStyle>
          <a:p>
            <a:pPr algn="r"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O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100" dirty="0">
                <a:solidFill>
                  <a:schemeClr val="accent6"/>
                </a:solidFill>
              </a:defRPr>
            </a:lvl1pPr>
          </a:lstStyle>
          <a:p>
            <a:pPr algn="r"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Pruebas de una arquitectura con caché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Integración entre aplicación, caché y base de datos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/productos/1  →  X-Cache: MISS · HIT · BYPASS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2578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Aseguramiento de la Calidad del Software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235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Estrategias de pruebas de integración y de sistema · Tema 14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5120640"/>
            <a:ext cx="4419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Sebastian Villa Castillo</a:t>
            </a:r>
            <a:endParaRPr lang="en-US" sz="1400" dirty="0"/>
          </a:p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Jhon Eduardo Zabala Garzon</a:t>
            </a:r>
            <a:endParaRPr lang="en-US" sz="1400" dirty="0"/>
          </a:p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Robin Alexander Montoya Velasquez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Arquitectura: API REST con cache-aside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 · Sebastian · Arquitectura y flujo exitoso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docs/arquitectura/01-componentes.png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7223760" cy="4343400"/>
          </a:xfrm>
          <a:prstGeom prst="roundRect">
            <a:avLst>
              <a:gd name="adj" fmla="val 168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6" name="Image 0" descr="Diagrama de componentes: cliente o tests, API Express con sus módulos, Redis y PostgreSQL, con los puntos de integración PI-1 a PI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281742"/>
            <a:ext cx="7004304" cy="25231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85216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24 + Express 5 + TypeScript · Redis 7.4 · PostgreSQL 17 · Docker Compose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092440" y="14630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924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732520" y="1490472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732520" y="1920240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primero; si falta, PostgreSQL y SET con TTL (60 s).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092440" y="292608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9244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732520" y="2953512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Escritura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3383280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en PostgreSQL y después DEL de la llave.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92440" y="438912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244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4416552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Origen visible (X-Cache)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732520" y="4846320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HIT: Redis · MISS: PostgreSQL y SET · BYPASS: Redis caído, solo PostgreSQL.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Puntos de integración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 · Sebastian · Arquitectura y flujo exitoso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docs/estrategia.md, sección 4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240280"/>
                <a:gridCol w="4572000"/>
                <a:gridCol w="345917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se valida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Cómo se observa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PI-1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↔ Redis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GET, SET con TTL y DEL de producto:{id}; un fallo no llega a la API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X-Cache y redis-inspeccionar.sh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PI-2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↔ PostgreSQL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Consultas parametrizadas y tipo NUMERIC normalizado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Respuesta HTTP y psql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PI-3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 ↔ API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Rutas, códigos 200/201/400/404 y X-Cache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Supertest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PI-4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↔ PostgreSQL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caché no sirve un dato distinto al de la BD, o el TTL lo acota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Respuesta de la API comparada con psql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709160"/>
            <a:ext cx="11094415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68680" y="470916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PI-4 no es una conexión directa: es una propiedad del sistema que se verifica a través de la API.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Demo: flujo exitoso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 · Sebastian · Arquitectura y flujo exitoso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Demostración en vivo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3560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-i localhost:3000/productos/1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28800"/>
            <a:ext cx="630936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Primera lectura: X-Cache: MISS. Se ve en el log de la API.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5374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537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5574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(mismo comando)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948940"/>
            <a:ext cx="630936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Segunda lectura: X-Cache: HIT, con el mismo JSON.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67588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redis:inspeccionar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069080"/>
            <a:ext cx="630936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llave producto:1 está en Redis con su TTL: la API sí habló con Redis.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7777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7777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79602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/productos/1 y otra lectura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5189220"/>
            <a:ext cx="630936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PUT borra la llave; la siguiente lectura es MISS y trae el valor nuevo.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909560" y="1417320"/>
            <a:ext cx="3733495" cy="4480560"/>
          </a:xfrm>
          <a:prstGeom prst="roundRect">
            <a:avLst>
              <a:gd name="adj" fmla="val 2449"/>
            </a:avLst>
          </a:prstGeom>
          <a:solidFill>
            <a:schemeClr val="accent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0" y="1691640"/>
            <a:ext cx="3093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el código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2057400"/>
            <a:ext cx="3093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api/src/rutas-productos.ts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2743200"/>
            <a:ext cx="309341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GET: cache.get → si no está, buscarPorId → cache.set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PUT: actualizar en la BD → cache.del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header X-Cache se pone según el resultado de la caché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Estrategia: componentes reales, sin mocks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2 · Jhon Eduardo · Estrategia, fallas y hallazgo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docs/estrategia.md, secciones 1 a 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41004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916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719072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Dependencias reales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23160"/>
            <a:ext cx="47699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y Redis corren en contenedores. No hay mocks de las integraciones.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33008" y="1371600"/>
            <a:ext cx="541004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/>
        </p:spPr>
      </p:sp>
      <p:sp>
        <p:nvSpPr>
          <p:cNvPr id="11" name="Shape 9"/>
          <p:cNvSpPr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3048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193128" y="1719072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Fallas provocadas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553048" y="2423160"/>
            <a:ext cx="47699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stop (caída), docker pause (lentitud) y UPDATE directo con psql (dato viejo).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541004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42062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233672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inicial controlado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937760"/>
            <a:ext cx="47699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y después de cada caso: FLUSHDB en Redis y los 4 productos semilla en la BD.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33008" y="3886200"/>
            <a:ext cx="541004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/>
        </p:spPr>
      </p:sp>
      <p:sp>
        <p:nvSpPr>
          <p:cNvPr id="21" name="Shape 19"/>
          <p:cNvSpPr/>
          <p:nvPr/>
        </p:nvSpPr>
        <p:spPr>
          <a:xfrm>
            <a:off x="6553048" y="42062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53048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93128" y="4233672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de aprobación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553048" y="4937760"/>
            <a:ext cx="47699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aserción coincide con lo esperado y queda evidencia. BYPASS en menos de 1 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Riesgos y cómo se mitigan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2 · Jhon Eduardo · Estrategia, fallas y hallazgo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docs/estrategia.md, sección 5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206240"/>
                <a:gridCol w="4480560"/>
                <a:gridCol w="167609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Riesgo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Mitigación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 no invalidado tras un PUT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 de la llave tras escribir en la BD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 viejo por escritura externa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TTL de 60 s en todas las llaves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caído o lento bloquea la API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cola offline + timeout de 500 ms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CP-05, CP-08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cachean errores o datos inválidos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se cachea un producto leído de la BD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CP-03, CP-04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HIT ≠ MISS por NUMERIC como string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normalizar() antes de cachear y responder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Llaves sin TTL que nunca expiran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 con EX en la misma operación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 corrupto en la caché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trata como MISS y se borra la llave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caso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Demo: provocamos las fallas en vivo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 · Jhon Eduardo · Estrategia, fallas y hallazgo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Demostración en vivo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3560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demo:api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28800"/>
            <a:ext cx="63093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reinicia la API con TTL de 20 s (en el laboratorio es 60) para ver CP-06 completo. Su log queda a la vista.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9108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910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92912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demo:cp-08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322320"/>
            <a:ext cx="63093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stop lab-cache-redis → 200 con BYPASS y /health degraded. docker start → Redis vuelve vacío: MISS y luego HIT.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404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404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42264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demo:cp-06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815840"/>
            <a:ext cx="63093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directo con psql → la API responde 99000 (HIT) con 104000 en la BD. Vence el TTL → MISS con 104000.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909560" y="1417320"/>
            <a:ext cx="3733495" cy="4480560"/>
          </a:xfrm>
          <a:prstGeom prst="roundRect">
            <a:avLst>
              <a:gd name="adj" fmla="val 2449"/>
            </a:avLst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0" y="1691640"/>
            <a:ext cx="3093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el código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2057400"/>
            <a:ext cx="3093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api/src/cache.ts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2743200"/>
            <a:ext cx="309341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disableOfflineQueue: true — falla de inmediato si Redis no está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withTimeout(…, 500 ms) — corta si Redis no responde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get, set y del devuelven ERROR en vez de lanzar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H-01: el cliente por defecto bloquea la API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 · Jhon Eduardo · Estrategia, fallas y hallazgo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docs/evidencias/HALLAZGO-01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657600"/>
                <a:gridCol w="3687775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Escenario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 por defecto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 del laboratorio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4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detenido (docker stop)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~5 000 ms y luego TimeoutError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 ms → ERROR → BYPASS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congelado (docker pause)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respuesta (corte a 10 000 ms)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 ms → ERROR → BYPASS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749040"/>
            <a:ext cx="5410048" cy="1463040"/>
          </a:xfrm>
          <a:prstGeom prst="roundRect">
            <a:avLst>
              <a:gd name="adj" fmla="val 6250"/>
            </a:avLst>
          </a:prstGeom>
          <a:solidFill>
            <a:schemeClr val="accent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14400" y="3749040"/>
            <a:ext cx="4678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Desactivar la cola fuera de línea resuelve la caída, no la lentitud.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233008" y="3749040"/>
            <a:ext cx="5410048" cy="1463040"/>
          </a:xfrm>
          <a:prstGeom prst="roundRect">
            <a:avLst>
              <a:gd name="adj" fmla="val 6250"/>
            </a:avLst>
          </a:prstGeom>
          <a:solidFill>
            <a:schemeClr val="accent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598768" y="3749040"/>
            <a:ext cx="4678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timeout por comando acota el peor caso a 500 ms. Se necesitan las dos medidas.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8 casos de prueba, 6 automatizados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3 · Robin · Casos, pruebas y resultados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docs/matriz-casos.xlsx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257800"/>
                <a:gridCol w="1463040"/>
                <a:gridCol w="2084832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Escenario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Categoría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Primera lectura MISS, segunda HIT, mismo JSON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Exitoso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PUT invalida la llave; el GET trae el valor nuevo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Exitoso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 y PUT inválidos → 400; caché y BD sin cambios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 inexistente → 404 y no se cachea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Error funcional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detenido → 200 BYPASS en menos de 1 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Falla técnica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Escritura directa en la BD: dato viejo hasta el TTL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Falla de integración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Crear → consultar → actualizar → consultar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Sistema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Exitoso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vuelve: la caché se reconstruye, MISS y luego HIT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Sistema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Falla técnica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7607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Resaltados: los tres automatizados que exige la guía (exitoso CP-01, validación CP-03, falla técnica CP-05).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Demo: pruebas automatizadas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3 · Robin · Casos, pruebas y resultados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Demostración en vivo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3560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28800"/>
            <a:ext cx="63093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las 3 suites con Redis y PostgreSQL reales: 6 pruebas aprobadas.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9108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910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92912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ECONNREFUSED en la salida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322320"/>
            <a:ext cx="63093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esperado: CP-05 detiene Redis a propósito y lo vuelve a levantar.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404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404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42264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docs/evidencias/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815840"/>
            <a:ext cx="63093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reporte-jest.json y un archivo por caso, por ejemplo el de CP-05 con BYPASS y su tiempo.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909560" y="1417320"/>
            <a:ext cx="3733495" cy="4480560"/>
          </a:xfrm>
          <a:prstGeom prst="roundRect">
            <a:avLst>
              <a:gd name="adj" fmla="val 2449"/>
            </a:avLst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0" y="1691640"/>
            <a:ext cx="3093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el código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2057400"/>
            <a:ext cx="3093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tests/integration/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redis-caido.test.ts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2743200"/>
            <a:ext cx="309341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stop lab-cache-redis desde la prueba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Comprueba 200, BYPASS y menos de 1000 ms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finally vuelve a levantar Redis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Resultados: los 8 casos aprobados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3 · Robin · Casos, pruebas y resultados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docs/evidencias · docs/estrategia.md §11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2567864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41732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76272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aprobados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90824" y="1325880"/>
            <a:ext cx="2567864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65144" y="141732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665144" y="2176272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Jest aprobadas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33008" y="1325880"/>
            <a:ext cx="2567864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07328" y="141732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6507328" y="2176272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suites aprobadas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075191" y="1325880"/>
            <a:ext cx="2567864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49511" y="141732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9349511" y="2176272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escenarios por script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206240"/>
                <a:gridCol w="5882335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Esperado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Obtenido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 → HIT, mismo JSON, TTL mayor que 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MISS → 200 HIT; JSON idéntico; TTL 60 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 y PUT inválidos → 400, sin cambios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 y 400; la caché sigue en HIT; 4 filas en la BD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BYPASS en menos de 1 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BYPASS en 12.05 ms; Redis restaurado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 viejo hasta el TTL, luego MISS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HIT = 99000 con BD = 104000; al vencer el TTL, MISS = 104000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Tiempos observados según el origen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3 · Robin · Casos, pruebas y resultados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Logs de la API en los escenarios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3515258" cy="265176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737360"/>
            <a:ext cx="27837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X-Cache: HIT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9456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0–2 ms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33756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Redis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38218" y="1417320"/>
            <a:ext cx="3515258" cy="265176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3978" y="1737360"/>
            <a:ext cx="27837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X-Cache: MISS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703978" y="219456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1–4 ms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4703978" y="333756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y SET en Redis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27797" y="1417320"/>
            <a:ext cx="3515258" cy="265176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93557" y="1737360"/>
            <a:ext cx="27837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X-Cache: BYPASS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93557" y="219456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ms</a:t>
            </a:r>
            <a:endParaRPr lang="en-US" sz="5400" dirty="0"/>
          </a:p>
        </p:txBody>
      </p:sp>
      <p:sp>
        <p:nvSpPr>
          <p:cNvPr id="16" name="Text 14"/>
          <p:cNvSpPr txBox="1"/>
          <p:nvPr/>
        </p:nvSpPr>
        <p:spPr>
          <a:xfrm>
            <a:off x="8493557" y="333756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detenido, lee PostgreSQL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5262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Umbral de CP-05: 1000 ms. La suite midió BYPASS en 12.05 ms. Son mediciones puntuales en local, no una prueba de carga.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Conclusiones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3 · Robin · Casos, pruebas y resultados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docs/estrategia.md §12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417320"/>
            <a:ext cx="10225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Cache-aside se comporta como se diseñó: el MISS carga desde PostgreSQL y el HIT devuelve el mismo JSON.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606040"/>
            <a:ext cx="10225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Invalidar en cada escritura evita datos viejos por la API; las escrituras externas solo las acota el TTL.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794760"/>
            <a:ext cx="10225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degradación depende de la configuración del cliente: sin cola fuera de línea y con timeout, Redis caído no tumba la API.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5120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4983480"/>
            <a:ext cx="10225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tiempos son mediciones funcionales puntuales; no permiten concluir sobre rendimiento bajo carga.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Preguntas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Laboratorio: API con caché Redis y PostgreSQL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348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</a:t>
            </a:r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api/src, tests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44348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Estrategia y análisis</a:t>
            </a:r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docs/estrategia.md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463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casos</a:t>
            </a:r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docs/matriz-casos.xlsx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48463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Evidencias</a:t>
            </a:r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docs/evidencias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257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 de falla</a:t>
            </a:r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scripts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5257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Instalación</a:t>
            </a:r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README.md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https://github.com/SebastianVillaC/lab-cache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Cache">
  <a:themeElements>
    <a:clrScheme name="Lab Cache">
      <a:dk1>
        <a:srgbClr val="1B2430"/>
      </a:dk1>
      <a:lt1>
        <a:srgbClr val="FFFFFF"/>
      </a:lt1>
      <a:dk2>
        <a:srgbClr val="3D4752"/>
      </a:dk2>
      <a:lt2>
        <a:srgbClr val="F3F4F6"/>
      </a:lt2>
      <a:accent1>
        <a:srgbClr val="E07A2F"/>
      </a:accent1>
      <a:accent2>
        <a:srgbClr val="2F6FB0"/>
      </a:accent2>
      <a:accent3>
        <a:srgbClr val="B5541B"/>
      </a:accent3>
      <a:accent4>
        <a:srgbClr val="5B6672"/>
      </a:accent4>
      <a:accent5>
        <a:srgbClr val="243142"/>
      </a:accent5>
      <a:accent6>
        <a:srgbClr val="BFC8D2"/>
      </a:accent6>
      <a:hlink>
        <a:srgbClr val="2F6FB0"/>
      </a:hlink>
      <a:folHlink>
        <a:srgbClr val="5B6672"/>
      </a:folHlink>
    </a:clrScheme>
    <a:fontScheme name="Lab Cach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Pruebas de una arquitectura con caché</dc:title>
  <dc:subject>Estrategias de pruebas de integración y de sistema</dc:subject>
  <dc:creator>Sebastian Villa Castillo, Jhon Eduardo Zabala Garzon, Robin Alexander Montoya Velasquez</dc:creator>
  <cp:lastModifiedBy>Sebastian Villa Castillo, Jhon Eduardo Zabala Garzon, Robin Alexander Montoya Velasquez</cp:lastModifiedBy>
  <cp:revision>1</cp:revision>
  <dcterms:created xsi:type="dcterms:W3CDTF">2026-10-04T21:16:00Z</dcterms:created>
  <dcterms:modified xsi:type="dcterms:W3CDTF">2026-10-04T21:16:00Z</dcterms:modified>
</cp:coreProperties>
</file>
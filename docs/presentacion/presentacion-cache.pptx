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Tema y arquitectura (3 min)" id="{1F3B3E50-16AA-9B8E-5F29-B604298F167E}">
          <p14:sldIdLst>
            <p14:sldId id="256"/>
            <p14:sldId id="257"/>
            <p14:sldId id="258"/>
            <p14:sldId id="259"/>
            <p14:sldId id="260"/>
          </p14:sldIdLst>
        </p14:section>
        <p14:section name="B · Estrategia y casos (5 min)" id="{F0E387CC-FC89-A058-3B64-8FAEC9FBA285}">
          <p14:sldIdLst>
            <p14:sldId id="261"/>
            <p14:sldId id="262"/>
            <p14:sldId id="263"/>
            <p14:sldId id="264"/>
          </p14:sldIdLst>
        </p14:section>
        <p14:section name="Demostración (8 min)" id="{41C1F28F-A5F7-71E6-F7C0-619006AEFEE2}">
          <p14:sldIdLst>
            <p14:sldId id="265"/>
          </p14:sldIdLst>
        </p14:section>
        <p14:section name="C · Resultados y conclusiones (3 min)" id="{FE244BC4-A45C-E0CD-91BA-CF52D35433E9}">
          <p14:sldIdLst>
            <p14:sldId id="266"/>
            <p14:sldId id="267"/>
            <p14:sldId id="268"/>
            <p14:sldId id="269"/>
          </p14:sldIdLst>
        </p14:section>
        <p14:section name="Preguntas (1 min)" id="{3912A892-A935-5076-0BBD-2F9222274A6E}">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224"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8708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A. Presentar el tema 14: una API con caché. Decir en una frase qué se va a ver: una API REST de productos con Redis como caché y PostgreSQL como base de datos, la estrategia de pruebas, los casos, la demo y los resultados. Tiempo del bloque A: 3 minutos.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A. Son los cuatro comportamientos que pide el tema 14 de la guía. Cada tarjeta dice qué caso de prueba lo demuestra, para que se vea desde el inicio que todo lo pedido tiene un caso asociado.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A. Tres componentes: la API en Node con Express, Redis como caché y PostgreSQL como fuente de verdad, ambos en contenedores. Cache-aside significa que la API decide cuándo leer, llenar e invalidar la caché; Redis y PostgreSQL nunca hablan entre sí. Se eligió frente a write-through (escribir en caché y BD a la vez) y write-behind (escribir en caché y luego en BD) porque es el más simple y la BD sigue siendo la fuente de verdad. El header X-Cache existe para que las pruebas y la demo puedan comprobar de dónde salió cada respuesta. Señalar PI-1 a PI-4 en el diagrama.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A. En el MISS, pg devuelve el precio NUMERIC como string ("189900.00"); normalizar() lo convierte a número en un solo punto, antes de cachear y antes de responder. Por eso el HIT devuelve exactamente el mismo JSON que el MISS (riesgo R5, caso CP-01). Si el producto no existe se responde 404 y no se guarda nada en Redis (R4, CP-04). Las consultas son parametrizadas ($1), así que el id nunca se concatena en el SQL.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A. Se invalida (DEL) en lugar de actualizar la llave porque así la caché solo se llena desde la BD y se evita que dos escrituras concurrentes dejen en Redis un valor distinto al de la BD. Se borra después de escribir en la BD (R1, CP-02). Si el DEL falla, se registra en el log y el dato viejo dura como máximo el TTL. Con Redis caído, el módulo de caché no lanza excepciones: devuelve un estado ERROR y la API responde desde PostgreSQL con BYPASS (R3, CP-05). Aquí termina el bloque de A; pasa la palabra a 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B. La estrategia completa tiene los 10 elementos que pide la guía y se definió antes de ejecutar. Aquí van las cuatro decisiones que más pesan. Se usan componentes reales porque un mock no reproduce el TTL, el desalojo ni los errores de conexión. Las fallas se provocan sobre los contenedores reales sin tocar el código de la API. Cada prueba deja Redis vacío y la tabla con los 4 productos semilla, así no depende del orden de ejecución. Herramientas: Jest y Supertest para la suite, Docker CLI para la caída y scripts en Bash para los escenarios manuales.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B. Estos son los cuatro puntos donde puede fallar la integración. PI-1 y PI-2 son conexiones reales de la API; PI-3 es el contrato HTTP que ve el cliente; PI-4 es la coherencia entre caché y BD, que no se puede observar en una conexión sino comparando lo que responde la API con lo que hay en PostgreSQL.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B. Cada riesgo tiene una mitigación en el código o la configuración y al menos un caso que la verifica. R2 no se elimina, se acepta y se acota con el TTL: una escritura que no pasa por la API no puede invalidar la caché. R6: el SET lleva EX en la misma operación, así nunca queda una llave sin expiración; además Redis tiene maxmemory de 64 MB con desalojo allkeys-lru y no persiste en disco porque es una caché, no la fuente de verdad. R7 apareció durante la implementación y se verificó manualmente, pero no tiene caso formal.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B. La matriz completa tiene los 12 campos de la guía para cada caso y relaciona cada uno con su riesgo y su punto de integración. Integración: el caso prueba la colaboración entre la API y uno o dos componentes. Sistema: CP-07 y CP-08 recorren un flujo completo de principio a fin con todo el stack levantado. Los 6 casos Jest corren con npm test; CP-06 y CP-08 se ejecutan con scripts porque dependen de esperar el TTL o de reiniciar Redis. Aquí termina el bloque de B; empieza la demo.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exponer: npm run infra:up y npm start en una terminal, para que la API esté arriba. A (unos 2 min): dos GET al mismo producto mostrando el header X-Cache MISS y luego HIT, y el log de la API; luego POST, PUT y otra lectura que vuelve a ser MISS. B (unos 4 min): escenario CP-05 detiene Redis y muestra BYPASS en milisegundos, 404 y 400 siguen funcionando y /health dice degraded; CP-08 lo levanta y la caché se reconstruye; CP-06 solo si queda tiempo, porque espera el TTL de 60 s. C (unos 2 min): npm test, mostrar 3 suites y 6 pruebas aprobadas, abrir el reporte JSON y una evidencia. CP-05 dentro de la suite detiene y vuelve a levantar el contenedor de Redis automáticamente.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C. Ejecución del 4 de octubre de 2026 sobre un entorno limpio (npm run infra:reset). Jest: 3 suites y 6 pruebas aprobadas, ninguna fallida. CP-06 y CP-08 se ejecutaron con sus scripts y también terminaron en APROBADO. La tabla muestra cuatro casos representativos; la comparación completa de esperado contra obtenido está en la estrategia, sección 11, y en la matriz. Cómo leer un fallo: Jest devuelve código distinto de cero y el reporte JSON guarda el mensaje de error de la aserción que no se cumplió.</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C. Valores tomados del log de la API durante los escenarios. Con Redis detenido el BYPASS es casi tan rápido como un MISS porque el comando falla de inmediato (no hay cola fuera de línea). No se sacan conclusiones de rendimiento: son mediciones individuales, sin carga ni percentiles. La pregunta interesante es qué pasa si Redis no está caído sino lento: eso es el hallazgo de la siguiente diapositiva.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C (medición hecha por B con npm run hallazgo:cliente-redis). El cliente redis por defecto tiene una cola fuera de línea: si Redis no está, el comando espera a que se conecte. Con Redis detenido la petición queda bloqueada 5 s y luego lanza una excepción, que sin manejo sería un 500 aunque la BD esté bien. Con Redis congelado la conexión sigue abierta y la espera no tiene límite. Desactivar la cola solo arregla el caso detenido; el congelado lo cubre únicamente el timeout por comando. Con las dos medidas el peor caso queda en REDIS_COMMAND_TIMEOUT_MS (500 ms), por debajo del objetivo de 1 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C. Cerrar con las cuatro ideas. La tercera es el aprendizaje principal: que la API sobreviva a la caída de la caché no viene gratis con el patrón, depende de cómo se configura el cliente, y eso solo se descubrió probando contra el Redis real. Límite: la suite limpia la tabla productos y vacía Redis, así que solo debe correr en el entorno de laboratorio.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Un minuto de preguntas. Recordar que el docente puede preguntarle a cualquiera sobre cualquier parte: la arquitectura, el código, la configuración o los casos.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37360"/>
            <a:ext cx="11094415" cy="173736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548640" y="3611880"/>
            <a:ext cx="11094415" cy="548640"/>
          </a:xfrm>
          <a:prstGeom prst="rect">
            <a:avLst/>
          </a:prstGeom>
          <a:noFill/>
          <a:ln/>
        </p:spPr>
        <p:txBody>
          <a:bodyPr wrap="square" rtlCol="0"/>
          <a:lstStyle>
            <a:lvl1pPr marL="0" indent="0">
              <a:buNone/>
              <a:defRPr lang="en-US" sz="2200" dirty="0">
                <a:solidFill>
                  <a:schemeClr val="accent6"/>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68580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3" name="Text 0"/>
          <p:cNvSpPr>
            <a:spLocks noGrp="1"/>
          </p:cNvSpPr>
          <p:nvPr>
            <p:ph type="body" idx="101" hasCustomPrompt="1"/>
          </p:nvPr>
        </p:nvSpPr>
        <p:spPr>
          <a:xfrm>
            <a:off x="548640" y="6355080"/>
            <a:ext cx="6858000" cy="274320"/>
          </a:xfrm>
          <a:prstGeom prst="rect">
            <a:avLst/>
          </a:prstGeom>
          <a:noFill/>
          <a:ln/>
        </p:spPr>
        <p:txBody>
          <a:bodyPr wrap="square" rtlCol="0"/>
          <a:lstStyle>
            <a:lvl1pPr marL="0" indent="0">
              <a:buNone/>
              <a:defRPr lang="en-US" sz="1100" dirty="0">
                <a:solidFill>
                  <a:schemeClr val="accent4"/>
                </a:solidFill>
              </a:defRPr>
            </a:lvl1pPr>
          </a:lstStyle>
          <a:p>
            <a:pPr marL="0" indent="0">
              <a:buNone/>
            </a:pPr>
            <a:endParaRPr lang="en-US" sz="1100" dirty="0"/>
          </a:p>
        </p:txBody>
      </p:sp>
      <p:sp>
        <p:nvSpPr>
          <p:cNvPr id="4" name="Text 0"/>
          <p:cNvSpPr>
            <a:spLocks noGrp="1"/>
          </p:cNvSpPr>
          <p:nvPr>
            <p:ph type="body" idx="102" hasCustomPrompt="1"/>
          </p:nvPr>
        </p:nvSpPr>
        <p:spPr>
          <a:xfrm>
            <a:off x="7589520" y="6355080"/>
            <a:ext cx="4053535" cy="274320"/>
          </a:xfrm>
          <a:prstGeom prst="rect">
            <a:avLst/>
          </a:prstGeom>
          <a:noFill/>
          <a:ln/>
        </p:spPr>
        <p:txBody>
          <a:bodyPr wrap="square" rtlCol="0"/>
          <a:lstStyle>
            <a:lvl1pPr marL="0" indent="0" algn="r">
              <a:buNone/>
              <a:defRPr lang="en-US" sz="1100" dirty="0">
                <a:solidFill>
                  <a:schemeClr val="accent4"/>
                </a:solidFill>
              </a:defRPr>
            </a:lvl1pPr>
          </a:lstStyle>
          <a:p>
            <a:pPr marL="0" indent="0" algn="r">
              <a:buNone/>
            </a:pPr>
            <a:endParaRPr lang="en-US" sz="11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_OSCUR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68580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a:spLocks noGrp="1"/>
          </p:cNvSpPr>
          <p:nvPr>
            <p:ph type="body" idx="101" hasCustomPrompt="1"/>
          </p:nvPr>
        </p:nvSpPr>
        <p:spPr>
          <a:xfrm>
            <a:off x="548640" y="6355080"/>
            <a:ext cx="6858000" cy="274320"/>
          </a:xfrm>
          <a:prstGeom prst="rect">
            <a:avLst/>
          </a:prstGeom>
          <a:noFill/>
          <a:ln/>
        </p:spPr>
        <p:txBody>
          <a:bodyPr wrap="square" rtlCol="0"/>
          <a:lstStyle>
            <a:lvl1pPr marL="0" indent="0">
              <a:buNone/>
              <a:defRPr lang="en-US" sz="1100" dirty="0">
                <a:solidFill>
                  <a:schemeClr val="accent6"/>
                </a:solidFill>
              </a:defRPr>
            </a:lvl1pPr>
          </a:lstStyle>
          <a:p>
            <a:pPr marL="0" indent="0">
              <a:buNone/>
            </a:pPr>
            <a:endParaRPr lang="en-US" sz="1100" dirty="0"/>
          </a:p>
        </p:txBody>
      </p:sp>
      <p:sp>
        <p:nvSpPr>
          <p:cNvPr id="4" name="Text 0"/>
          <p:cNvSpPr>
            <a:spLocks noGrp="1"/>
          </p:cNvSpPr>
          <p:nvPr>
            <p:ph type="body" idx="102" hasCustomPrompt="1"/>
          </p:nvPr>
        </p:nvSpPr>
        <p:spPr>
          <a:xfrm>
            <a:off x="7589520" y="6355080"/>
            <a:ext cx="4053535" cy="274320"/>
          </a:xfrm>
          <a:prstGeom prst="rect">
            <a:avLst/>
          </a:prstGeom>
          <a:noFill/>
          <a:ln/>
        </p:spPr>
        <p:txBody>
          <a:bodyPr wrap="square" rtlCol="0"/>
          <a:lstStyle>
            <a:lvl1pPr marL="0" indent="0" algn="r">
              <a:buNone/>
              <a:defRPr lang="en-US" sz="1100" dirty="0">
                <a:solidFill>
                  <a:schemeClr val="accent6"/>
                </a:solidFill>
              </a:defRPr>
            </a:lvl1pPr>
          </a:lstStyle>
          <a:p>
            <a:pPr marL="0" indent="0" algn="r">
              <a:buNone/>
            </a:pP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SebastianVillaC/lab-cache"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37360"/>
            <a:ext cx="11094415" cy="1737360"/>
          </a:xfrm>
          <a:prstGeom prst="rect">
            <a:avLst/>
          </a:prstGeom>
          <a:noFill/>
          <a:ln/>
        </p:spPr>
        <p:txBody>
          <a:bodyPr wrap="square" lIns="0" tIns="0" rIns="0" bIns="0" rtlCol="0" anchor="b"/>
          <a:lstStyle/>
          <a:p>
            <a:pPr marL="0" indent="0" algn="l">
              <a:buNone/>
            </a:pPr>
            <a:r>
              <a:rPr lang="en-US" sz="4800" b="1" dirty="0">
                <a:solidFill>
                  <a:schemeClr val="bg1"/>
                </a:solidFill>
              </a:rPr>
              <a:t>Pruebas de una arquitectura con caché</a:t>
            </a:r>
            <a:endParaRPr lang="en-US" sz="4800" dirty="0"/>
          </a:p>
        </p:txBody>
      </p:sp>
      <p:sp>
        <p:nvSpPr>
          <p:cNvPr id="3" name="Text 0"/>
          <p:cNvSpPr>
            <a:spLocks noGrp="1"/>
          </p:cNvSpPr>
          <p:nvPr>
            <p:ph type="body" idx="101" hasCustomPrompt="1"/>
          </p:nvPr>
        </p:nvSpPr>
        <p:spPr>
          <a:xfrm>
            <a:off x="548640" y="3611880"/>
            <a:ext cx="11094415" cy="548640"/>
          </a:xfrm>
          <a:prstGeom prst="rect">
            <a:avLst/>
          </a:prstGeom>
          <a:noFill/>
          <a:ln/>
        </p:spPr>
        <p:txBody>
          <a:bodyPr wrap="square" lIns="0" tIns="0" rIns="0" bIns="0" rtlCol="0" anchor="t"/>
          <a:lstStyle/>
          <a:p>
            <a:pPr marL="0" indent="0">
              <a:buNone/>
            </a:pPr>
            <a:r>
              <a:rPr lang="en-US" sz="2200" dirty="0">
                <a:solidFill>
                  <a:schemeClr val="accent6"/>
                </a:solidFill>
              </a:rPr>
              <a:t>Integración entre aplicación, caché y base de datos</a:t>
            </a:r>
            <a:endParaRPr lang="en-US" sz="2200" dirty="0"/>
          </a:p>
        </p:txBody>
      </p:sp>
      <p:sp>
        <p:nvSpPr>
          <p:cNvPr id="4" name="Text 2"/>
          <p:cNvSpPr txBox="1"/>
          <p:nvPr/>
        </p:nvSpPr>
        <p:spPr>
          <a:xfrm>
            <a:off x="548640" y="731520"/>
            <a:ext cx="11094415" cy="365760"/>
          </a:xfrm>
          <a:prstGeom prst="rect">
            <a:avLst/>
          </a:prstGeom>
          <a:noFill/>
          <a:ln/>
        </p:spPr>
        <p:txBody>
          <a:bodyPr wrap="square" lIns="0" tIns="0" rIns="0" bIns="0" rtlCol="0" anchor="t"/>
          <a:lstStyle/>
          <a:p>
            <a:pPr marL="0" indent="0">
              <a:buNone/>
            </a:pPr>
            <a:r>
              <a:rPr lang="en-US" sz="1600" dirty="0">
                <a:solidFill>
                  <a:schemeClr val="accent1"/>
                </a:solidFill>
                <a:latin typeface="Courier New" pitchFamily="34" charset="0"/>
                <a:ea typeface="Courier New" pitchFamily="34" charset="-122"/>
                <a:cs typeface="Courier New" pitchFamily="34" charset="-120"/>
              </a:rPr>
              <a:t>GET /productos/1  →  X-Cache: MISS · HIT · BYPASS</a:t>
            </a:r>
            <a:endParaRPr lang="en-US" sz="1600" dirty="0"/>
          </a:p>
        </p:txBody>
      </p:sp>
      <p:sp>
        <p:nvSpPr>
          <p:cNvPr id="5" name="Text 3"/>
          <p:cNvSpPr txBox="1"/>
          <p:nvPr/>
        </p:nvSpPr>
        <p:spPr>
          <a:xfrm>
            <a:off x="548640" y="5257800"/>
            <a:ext cx="6858000" cy="320040"/>
          </a:xfrm>
          <a:prstGeom prst="rect">
            <a:avLst/>
          </a:prstGeom>
          <a:noFill/>
          <a:ln/>
        </p:spPr>
        <p:txBody>
          <a:bodyPr wrap="square" lIns="0" tIns="0" rIns="0" bIns="0" rtlCol="0" anchor="t"/>
          <a:lstStyle/>
          <a:p>
            <a:pPr marL="0" indent="0">
              <a:buNone/>
            </a:pPr>
            <a:r>
              <a:rPr lang="en-US" sz="1600" dirty="0">
                <a:solidFill>
                  <a:schemeClr val="bg1"/>
                </a:solidFill>
                <a:latin typeface="Arial" pitchFamily="34" charset="0"/>
                <a:ea typeface="Arial" pitchFamily="34" charset="-122"/>
                <a:cs typeface="Arial" pitchFamily="34" charset="-120"/>
              </a:rPr>
              <a:t>Aseguramiento de la Calidad del Software</a:t>
            </a:r>
            <a:endParaRPr lang="en-US" sz="1600" dirty="0"/>
          </a:p>
        </p:txBody>
      </p:sp>
      <p:sp>
        <p:nvSpPr>
          <p:cNvPr id="6" name="Text 4"/>
          <p:cNvSpPr txBox="1"/>
          <p:nvPr/>
        </p:nvSpPr>
        <p:spPr>
          <a:xfrm>
            <a:off x="548640" y="5623560"/>
            <a:ext cx="6858000" cy="320040"/>
          </a:xfrm>
          <a:prstGeom prst="rect">
            <a:avLst/>
          </a:prstGeom>
          <a:noFill/>
          <a:ln/>
        </p:spPr>
        <p:txBody>
          <a:bodyPr wrap="square" lIns="0" tIns="0" rIns="0" bIns="0" rtlCol="0" anchor="t"/>
          <a:lstStyle/>
          <a:p>
            <a:pPr marL="0" indent="0">
              <a:buNone/>
            </a:pPr>
            <a:r>
              <a:rPr lang="en-US" sz="1400" dirty="0">
                <a:solidFill>
                  <a:schemeClr val="accent6"/>
                </a:solidFill>
                <a:latin typeface="Arial" pitchFamily="34" charset="0"/>
                <a:ea typeface="Arial" pitchFamily="34" charset="-122"/>
                <a:cs typeface="Arial" pitchFamily="34" charset="-120"/>
              </a:rPr>
              <a:t>Estrategias de pruebas de integración y de sistema · Tema 14</a:t>
            </a:r>
            <a:endParaRPr lang="en-US" sz="1400" dirty="0"/>
          </a:p>
        </p:txBody>
      </p:sp>
      <p:sp>
        <p:nvSpPr>
          <p:cNvPr id="7" name="Text 5"/>
          <p:cNvSpPr txBox="1"/>
          <p:nvPr/>
        </p:nvSpPr>
        <p:spPr>
          <a:xfrm>
            <a:off x="8366234" y="5623560"/>
            <a:ext cx="3276821" cy="320040"/>
          </a:xfrm>
          <a:prstGeom prst="rect">
            <a:avLst/>
          </a:prstGeom>
          <a:noFill/>
          <a:ln/>
        </p:spPr>
        <p:txBody>
          <a:bodyPr wrap="square" lIns="0" tIns="0" rIns="0" bIns="0" rtlCol="0" anchor="t"/>
          <a:lstStyle/>
          <a:p>
            <a:pPr marL="0" indent="0" algn="r">
              <a:buNone/>
            </a:pPr>
            <a:r>
              <a:rPr lang="en-US" sz="1400" dirty="0">
                <a:solidFill>
                  <a:schemeClr val="accent6"/>
                </a:solidFill>
                <a:latin typeface="Arial" pitchFamily="34" charset="0"/>
                <a:ea typeface="Arial" pitchFamily="34" charset="-122"/>
                <a:cs typeface="Arial" pitchFamily="34" charset="-120"/>
              </a:rPr>
              <a:t>Sebastian Villa Castillo</a:t>
            </a:r>
          </a:p>
          <a:p>
            <a:pPr marL="0" indent="0" algn="r">
              <a:buNone/>
            </a:pPr>
            <a:r>
              <a:rPr lang="en-US" sz="1400" dirty="0">
                <a:solidFill>
                  <a:schemeClr val="accent6"/>
                </a:solidFill>
                <a:latin typeface="Arial" pitchFamily="34" charset="0"/>
                <a:ea typeface="Arial" pitchFamily="34" charset="-122"/>
                <a:cs typeface="Arial" pitchFamily="34" charset="-120"/>
              </a:rPr>
              <a:t> Jhon Eduardo Zabala Garzon </a:t>
            </a:r>
          </a:p>
          <a:p>
            <a:pPr marL="0" indent="0" algn="r">
              <a:buNone/>
            </a:pPr>
            <a:r>
              <a:rPr lang="en-US" sz="1400" dirty="0">
                <a:solidFill>
                  <a:schemeClr val="accent6"/>
                </a:solidFill>
                <a:latin typeface="Arial" pitchFamily="34" charset="0"/>
                <a:ea typeface="Arial" pitchFamily="34" charset="-122"/>
                <a:cs typeface="Arial" pitchFamily="34" charset="-120"/>
              </a:rPr>
              <a:t> Robin Alexander Montoya Velasquez</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685800"/>
          </a:xfrm>
          <a:prstGeom prst="rect">
            <a:avLst/>
          </a:prstGeom>
          <a:noFill/>
          <a:ln/>
        </p:spPr>
        <p:txBody>
          <a:bodyPr wrap="square" lIns="0" tIns="0" rIns="0" bIns="0" rtlCol="0" anchor="ctr"/>
          <a:lstStyle/>
          <a:p>
            <a:pPr marL="0" indent="0" algn="l">
              <a:buNone/>
            </a:pPr>
            <a:r>
              <a:rPr lang="en-US" sz="3600" b="1" dirty="0">
                <a:solidFill>
                  <a:schemeClr val="tx1"/>
                </a:solidFill>
              </a:rPr>
              <a:t>Qué debe demostrar el laboratorio</a:t>
            </a:r>
            <a:endParaRPr lang="en-US" sz="3600" dirty="0"/>
          </a:p>
        </p:txBody>
      </p:sp>
      <p:sp>
        <p:nvSpPr>
          <p:cNvPr id="3" name="Text 0"/>
          <p:cNvSpPr>
            <a:spLocks noGrp="1"/>
          </p:cNvSpPr>
          <p:nvPr>
            <p:ph type="body" idx="101" hasCustomPrompt="1"/>
          </p:nvPr>
        </p:nvSpPr>
        <p:spPr>
          <a:xfrm>
            <a:off x="548640" y="6355080"/>
            <a:ext cx="6858000" cy="274320"/>
          </a:xfrm>
          <a:prstGeom prst="rect">
            <a:avLst/>
          </a:prstGeom>
          <a:noFill/>
          <a:ln/>
        </p:spPr>
        <p:txBody>
          <a:bodyPr wrap="square" lIns="0" tIns="0" rIns="0" bIns="0" rtlCol="0" anchor="ctr"/>
          <a:lstStyle/>
          <a:p>
            <a:pPr marL="0" indent="0">
              <a:buNone/>
            </a:pPr>
            <a:r>
              <a:rPr lang="en-US" sz="1100" dirty="0">
                <a:solidFill>
                  <a:schemeClr val="accent4"/>
                </a:solidFill>
              </a:rPr>
              <a:t>A · Tema y arquitectura</a:t>
            </a:r>
            <a:endParaRPr lang="en-US" sz="1100" dirty="0"/>
          </a:p>
        </p:txBody>
      </p:sp>
      <p:sp>
        <p:nvSpPr>
          <p:cNvPr id="4" name="Text 0"/>
          <p:cNvSpPr>
            <a:spLocks noGrp="1"/>
          </p:cNvSpPr>
          <p:nvPr>
            <p:ph type="body" idx="102" hasCustomPrompt="1"/>
          </p:nvPr>
        </p:nvSpPr>
        <p:spPr>
          <a:xfrm>
            <a:off x="7589520" y="6355080"/>
            <a:ext cx="4053535" cy="274320"/>
          </a:xfrm>
          <a:prstGeom prst="rect">
            <a:avLst/>
          </a:prstGeom>
          <a:noFill/>
          <a:ln/>
        </p:spPr>
        <p:txBody>
          <a:bodyPr wrap="square" lIns="0" tIns="0" rIns="0" bIns="0" rtlCol="0" anchor="ctr"/>
          <a:lstStyle/>
          <a:p>
            <a:pPr marL="0" indent="0" algn="r">
              <a:buNone/>
            </a:pPr>
            <a:r>
              <a:rPr lang="en-US" sz="1100" dirty="0">
                <a:solidFill>
                  <a:schemeClr val="accent4"/>
                </a:solidFill>
              </a:rPr>
              <a:t>Guía, tema 14</a:t>
            </a:r>
            <a:endParaRPr lang="en-US" sz="1100" dirty="0"/>
          </a:p>
        </p:txBody>
      </p:sp>
      <p:sp>
        <p:nvSpPr>
          <p:cNvPr id="5" name="Shape 3"/>
          <p:cNvSpPr/>
          <p:nvPr/>
        </p:nvSpPr>
        <p:spPr>
          <a:xfrm>
            <a:off x="548640" y="1371600"/>
            <a:ext cx="5410048" cy="2240280"/>
          </a:xfrm>
          <a:prstGeom prst="roundRect">
            <a:avLst>
              <a:gd name="adj" fmla="val 4082"/>
            </a:avLst>
          </a:prstGeom>
          <a:solidFill>
            <a:schemeClr val="bg2"/>
          </a:solidFill>
          <a:ln/>
        </p:spPr>
        <p:txBody>
          <a:bodyPr/>
          <a:lstStyle/>
          <a:p>
            <a:endParaRPr lang="es-ES_tradnl"/>
          </a:p>
        </p:txBody>
      </p:sp>
      <p:sp>
        <p:nvSpPr>
          <p:cNvPr id="6" name="Text 4"/>
          <p:cNvSpPr txBox="1"/>
          <p:nvPr/>
        </p:nvSpPr>
        <p:spPr>
          <a:xfrm>
            <a:off x="868680" y="1645920"/>
            <a:ext cx="4769968" cy="274320"/>
          </a:xfrm>
          <a:prstGeom prst="rect">
            <a:avLst/>
          </a:prstGeom>
          <a:noFill/>
          <a:ln/>
        </p:spPr>
        <p:txBody>
          <a:bodyPr wrap="square" lIns="0" tIns="0" rIns="0" bIns="0" rtlCol="0" anchor="t"/>
          <a:lstStyle/>
          <a:p>
            <a:pPr marL="0" indent="0">
              <a:buNone/>
            </a:pPr>
            <a:r>
              <a:rPr lang="en-US" sz="1300" dirty="0">
                <a:solidFill>
                  <a:schemeClr val="accent3"/>
                </a:solidFill>
                <a:latin typeface="Courier New" pitchFamily="34" charset="0"/>
                <a:ea typeface="Courier New" pitchFamily="34" charset="-122"/>
                <a:cs typeface="Courier New" pitchFamily="34" charset="-120"/>
              </a:rPr>
              <a:t>01 · CP-01</a:t>
            </a:r>
            <a:endParaRPr lang="en-US" sz="1300" dirty="0"/>
          </a:p>
        </p:txBody>
      </p:sp>
      <p:sp>
        <p:nvSpPr>
          <p:cNvPr id="7" name="Text 5"/>
          <p:cNvSpPr txBox="1"/>
          <p:nvPr/>
        </p:nvSpPr>
        <p:spPr>
          <a:xfrm>
            <a:off x="868680" y="2011680"/>
            <a:ext cx="4769968" cy="41148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Consulta</a:t>
            </a:r>
            <a:endParaRPr lang="en-US" sz="2200" dirty="0"/>
          </a:p>
        </p:txBody>
      </p:sp>
      <p:sp>
        <p:nvSpPr>
          <p:cNvPr id="8" name="Text 6"/>
          <p:cNvSpPr txBox="1"/>
          <p:nvPr/>
        </p:nvSpPr>
        <p:spPr>
          <a:xfrm>
            <a:off x="868680" y="2560320"/>
            <a:ext cx="4769968" cy="868680"/>
          </a:xfrm>
          <a:prstGeom prst="rect">
            <a:avLst/>
          </a:prstGeom>
          <a:noFill/>
          <a:ln/>
        </p:spPr>
        <p:txBody>
          <a:bodyPr wrap="square" lIns="0" tIns="0" rIns="0" bIns="0" rtlCol="0" anchor="t"/>
          <a:lstStyle/>
          <a:p>
            <a:pPr marL="0" indent="0">
              <a:buNone/>
            </a:pPr>
            <a:r>
              <a:rPr lang="en-US" sz="1600" dirty="0">
                <a:solidFill>
                  <a:schemeClr val="tx2"/>
                </a:solidFill>
                <a:latin typeface="Arial" pitchFamily="34" charset="0"/>
                <a:ea typeface="Arial" pitchFamily="34" charset="-122"/>
                <a:cs typeface="Arial" pitchFamily="34" charset="-120"/>
              </a:rPr>
              <a:t>Primera lectura MISS desde PostgreSQL; la segunda, HIT desde Redis, con el mismo JSON.</a:t>
            </a:r>
            <a:endParaRPr lang="en-US" sz="1600" dirty="0"/>
          </a:p>
        </p:txBody>
      </p:sp>
      <p:sp>
        <p:nvSpPr>
          <p:cNvPr id="9" name="Shape 7"/>
          <p:cNvSpPr/>
          <p:nvPr/>
        </p:nvSpPr>
        <p:spPr>
          <a:xfrm>
            <a:off x="6233008" y="1371600"/>
            <a:ext cx="5410048" cy="2240280"/>
          </a:xfrm>
          <a:prstGeom prst="roundRect">
            <a:avLst>
              <a:gd name="adj" fmla="val 4082"/>
            </a:avLst>
          </a:prstGeom>
          <a:solidFill>
            <a:schemeClr val="bg2"/>
          </a:solidFill>
          <a:ln/>
        </p:spPr>
        <p:txBody>
          <a:bodyPr/>
          <a:lstStyle/>
          <a:p>
            <a:endParaRPr lang="es-ES_tradnl"/>
          </a:p>
        </p:txBody>
      </p:sp>
      <p:sp>
        <p:nvSpPr>
          <p:cNvPr id="10" name="Text 8"/>
          <p:cNvSpPr txBox="1"/>
          <p:nvPr/>
        </p:nvSpPr>
        <p:spPr>
          <a:xfrm>
            <a:off x="6553048" y="1645920"/>
            <a:ext cx="4769968" cy="274320"/>
          </a:xfrm>
          <a:prstGeom prst="rect">
            <a:avLst/>
          </a:prstGeom>
          <a:noFill/>
          <a:ln/>
        </p:spPr>
        <p:txBody>
          <a:bodyPr wrap="square" lIns="0" tIns="0" rIns="0" bIns="0" rtlCol="0" anchor="t"/>
          <a:lstStyle/>
          <a:p>
            <a:pPr marL="0" indent="0">
              <a:buNone/>
            </a:pPr>
            <a:r>
              <a:rPr lang="en-US" sz="1300" dirty="0">
                <a:solidFill>
                  <a:schemeClr val="accent3"/>
                </a:solidFill>
                <a:latin typeface="Courier New" pitchFamily="34" charset="0"/>
                <a:ea typeface="Courier New" pitchFamily="34" charset="-122"/>
                <a:cs typeface="Courier New" pitchFamily="34" charset="-120"/>
              </a:rPr>
              <a:t>02 · CP-02 · CP-07</a:t>
            </a:r>
            <a:endParaRPr lang="en-US" sz="1300" dirty="0"/>
          </a:p>
        </p:txBody>
      </p:sp>
      <p:sp>
        <p:nvSpPr>
          <p:cNvPr id="11" name="Text 9"/>
          <p:cNvSpPr txBox="1"/>
          <p:nvPr/>
        </p:nvSpPr>
        <p:spPr>
          <a:xfrm>
            <a:off x="6553048" y="2011680"/>
            <a:ext cx="4769968" cy="41148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Actualización e invalidación</a:t>
            </a:r>
            <a:endParaRPr lang="en-US" sz="2200" dirty="0"/>
          </a:p>
        </p:txBody>
      </p:sp>
      <p:sp>
        <p:nvSpPr>
          <p:cNvPr id="12" name="Text 10"/>
          <p:cNvSpPr txBox="1"/>
          <p:nvPr/>
        </p:nvSpPr>
        <p:spPr>
          <a:xfrm>
            <a:off x="6553048" y="2560320"/>
            <a:ext cx="4769968" cy="868680"/>
          </a:xfrm>
          <a:prstGeom prst="rect">
            <a:avLst/>
          </a:prstGeom>
          <a:noFill/>
          <a:ln/>
        </p:spPr>
        <p:txBody>
          <a:bodyPr wrap="square" lIns="0" tIns="0" rIns="0" bIns="0" rtlCol="0" anchor="t"/>
          <a:lstStyle/>
          <a:p>
            <a:pPr marL="0" indent="0">
              <a:buNone/>
            </a:pPr>
            <a:r>
              <a:rPr lang="en-US" sz="1600" dirty="0">
                <a:solidFill>
                  <a:schemeClr val="tx2"/>
                </a:solidFill>
                <a:latin typeface="Arial" pitchFamily="34" charset="0"/>
                <a:ea typeface="Arial" pitchFamily="34" charset="-122"/>
                <a:cs typeface="Arial" pitchFamily="34" charset="-120"/>
              </a:rPr>
              <a:t>Un PUT escribe en la BD y borra la llave; la siguiente lectura trae el valor nuevo.</a:t>
            </a:r>
            <a:endParaRPr lang="en-US" sz="1600" dirty="0"/>
          </a:p>
        </p:txBody>
      </p:sp>
      <p:sp>
        <p:nvSpPr>
          <p:cNvPr id="13" name="Shape 11"/>
          <p:cNvSpPr/>
          <p:nvPr/>
        </p:nvSpPr>
        <p:spPr>
          <a:xfrm>
            <a:off x="548640" y="3886200"/>
            <a:ext cx="5410048" cy="2240280"/>
          </a:xfrm>
          <a:prstGeom prst="roundRect">
            <a:avLst>
              <a:gd name="adj" fmla="val 4082"/>
            </a:avLst>
          </a:prstGeom>
          <a:solidFill>
            <a:schemeClr val="bg2"/>
          </a:solidFill>
          <a:ln/>
        </p:spPr>
        <p:txBody>
          <a:bodyPr/>
          <a:lstStyle/>
          <a:p>
            <a:endParaRPr lang="es-ES_tradnl"/>
          </a:p>
        </p:txBody>
      </p:sp>
      <p:sp>
        <p:nvSpPr>
          <p:cNvPr id="14" name="Text 12"/>
          <p:cNvSpPr txBox="1"/>
          <p:nvPr/>
        </p:nvSpPr>
        <p:spPr>
          <a:xfrm>
            <a:off x="868680" y="4160520"/>
            <a:ext cx="4769968" cy="274320"/>
          </a:xfrm>
          <a:prstGeom prst="rect">
            <a:avLst/>
          </a:prstGeom>
          <a:noFill/>
          <a:ln/>
        </p:spPr>
        <p:txBody>
          <a:bodyPr wrap="square" lIns="0" tIns="0" rIns="0" bIns="0" rtlCol="0" anchor="t"/>
          <a:lstStyle/>
          <a:p>
            <a:pPr marL="0" indent="0">
              <a:buNone/>
            </a:pPr>
            <a:r>
              <a:rPr lang="en-US" sz="1300" dirty="0">
                <a:solidFill>
                  <a:schemeClr val="accent3"/>
                </a:solidFill>
                <a:latin typeface="Courier New" pitchFamily="34" charset="0"/>
                <a:ea typeface="Courier New" pitchFamily="34" charset="-122"/>
                <a:cs typeface="Courier New" pitchFamily="34" charset="-120"/>
              </a:rPr>
              <a:t>03 · CP-05 · CP-08</a:t>
            </a:r>
            <a:endParaRPr lang="en-US" sz="1300" dirty="0"/>
          </a:p>
        </p:txBody>
      </p:sp>
      <p:sp>
        <p:nvSpPr>
          <p:cNvPr id="15" name="Text 13"/>
          <p:cNvSpPr txBox="1"/>
          <p:nvPr/>
        </p:nvSpPr>
        <p:spPr>
          <a:xfrm>
            <a:off x="868680" y="4526280"/>
            <a:ext cx="4769968" cy="41148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Falla de la caché</a:t>
            </a:r>
            <a:endParaRPr lang="en-US" sz="2200" dirty="0"/>
          </a:p>
        </p:txBody>
      </p:sp>
      <p:sp>
        <p:nvSpPr>
          <p:cNvPr id="16" name="Text 14"/>
          <p:cNvSpPr txBox="1"/>
          <p:nvPr/>
        </p:nvSpPr>
        <p:spPr>
          <a:xfrm>
            <a:off x="868680" y="5074920"/>
            <a:ext cx="4769968" cy="868680"/>
          </a:xfrm>
          <a:prstGeom prst="rect">
            <a:avLst/>
          </a:prstGeom>
          <a:noFill/>
          <a:ln/>
        </p:spPr>
        <p:txBody>
          <a:bodyPr wrap="square" lIns="0" tIns="0" rIns="0" bIns="0" rtlCol="0" anchor="t"/>
          <a:lstStyle/>
          <a:p>
            <a:pPr marL="0" indent="0">
              <a:buNone/>
            </a:pPr>
            <a:r>
              <a:rPr lang="en-US" sz="1600" dirty="0">
                <a:solidFill>
                  <a:schemeClr val="tx2"/>
                </a:solidFill>
                <a:latin typeface="Arial" pitchFamily="34" charset="0"/>
                <a:ea typeface="Arial" pitchFamily="34" charset="-122"/>
                <a:cs typeface="Arial" pitchFamily="34" charset="-120"/>
              </a:rPr>
              <a:t>Con Redis caído la API sigue respondiendo 200 desde PostgreSQL, sin error 500 ni bloqueo.</a:t>
            </a:r>
            <a:endParaRPr lang="en-US" sz="1600" dirty="0"/>
          </a:p>
        </p:txBody>
      </p:sp>
      <p:sp>
        <p:nvSpPr>
          <p:cNvPr id="17" name="Shape 15"/>
          <p:cNvSpPr/>
          <p:nvPr/>
        </p:nvSpPr>
        <p:spPr>
          <a:xfrm>
            <a:off x="6233008" y="3886200"/>
            <a:ext cx="5410048" cy="2240280"/>
          </a:xfrm>
          <a:prstGeom prst="roundRect">
            <a:avLst>
              <a:gd name="adj" fmla="val 4082"/>
            </a:avLst>
          </a:prstGeom>
          <a:solidFill>
            <a:schemeClr val="bg2"/>
          </a:solidFill>
          <a:ln/>
        </p:spPr>
        <p:txBody>
          <a:bodyPr/>
          <a:lstStyle/>
          <a:p>
            <a:endParaRPr lang="es-ES_tradnl"/>
          </a:p>
        </p:txBody>
      </p:sp>
      <p:sp>
        <p:nvSpPr>
          <p:cNvPr id="18" name="Text 16"/>
          <p:cNvSpPr txBox="1"/>
          <p:nvPr/>
        </p:nvSpPr>
        <p:spPr>
          <a:xfrm>
            <a:off x="6553048" y="4160520"/>
            <a:ext cx="4769968" cy="274320"/>
          </a:xfrm>
          <a:prstGeom prst="rect">
            <a:avLst/>
          </a:prstGeom>
          <a:noFill/>
          <a:ln/>
        </p:spPr>
        <p:txBody>
          <a:bodyPr wrap="square" lIns="0" tIns="0" rIns="0" bIns="0" rtlCol="0" anchor="t"/>
          <a:lstStyle/>
          <a:p>
            <a:pPr marL="0" indent="0">
              <a:buNone/>
            </a:pPr>
            <a:r>
              <a:rPr lang="en-US" sz="1300" dirty="0">
                <a:solidFill>
                  <a:schemeClr val="accent3"/>
                </a:solidFill>
                <a:latin typeface="Courier New" pitchFamily="34" charset="0"/>
                <a:ea typeface="Courier New" pitchFamily="34" charset="-122"/>
                <a:cs typeface="Courier New" pitchFamily="34" charset="-120"/>
              </a:rPr>
              <a:t>04 · CP-06</a:t>
            </a:r>
            <a:endParaRPr lang="en-US" sz="1300" dirty="0"/>
          </a:p>
        </p:txBody>
      </p:sp>
      <p:sp>
        <p:nvSpPr>
          <p:cNvPr id="19" name="Text 17"/>
          <p:cNvSpPr txBox="1"/>
          <p:nvPr/>
        </p:nvSpPr>
        <p:spPr>
          <a:xfrm>
            <a:off x="6553048" y="4526280"/>
            <a:ext cx="4769968" cy="41148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Datos desactualizados</a:t>
            </a:r>
            <a:endParaRPr lang="en-US" sz="2200" dirty="0"/>
          </a:p>
        </p:txBody>
      </p:sp>
      <p:sp>
        <p:nvSpPr>
          <p:cNvPr id="20" name="Text 18"/>
          <p:cNvSpPr txBox="1"/>
          <p:nvPr/>
        </p:nvSpPr>
        <p:spPr>
          <a:xfrm>
            <a:off x="6553048" y="5074920"/>
            <a:ext cx="4769968" cy="868680"/>
          </a:xfrm>
          <a:prstGeom prst="rect">
            <a:avLst/>
          </a:prstGeom>
          <a:noFill/>
          <a:ln/>
        </p:spPr>
        <p:txBody>
          <a:bodyPr wrap="square" lIns="0" tIns="0" rIns="0" bIns="0" rtlCol="0" anchor="t"/>
          <a:lstStyle/>
          <a:p>
            <a:pPr marL="0" indent="0">
              <a:buNone/>
            </a:pPr>
            <a:r>
              <a:rPr lang="en-US" sz="1600" dirty="0">
                <a:solidFill>
                  <a:schemeClr val="tx2"/>
                </a:solidFill>
                <a:latin typeface="Arial" pitchFamily="34" charset="0"/>
                <a:ea typeface="Arial" pitchFamily="34" charset="-122"/>
                <a:cs typeface="Arial" pitchFamily="34" charset="-120"/>
              </a:rPr>
              <a:t>Una escritura directa en la BD deja un dato viejo en caché; se detecta y el TTL lo acota.</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685800"/>
          </a:xfrm>
          <a:prstGeom prst="rect">
            <a:avLst/>
          </a:prstGeom>
          <a:noFill/>
          <a:ln/>
        </p:spPr>
        <p:txBody>
          <a:bodyPr wrap="square" lIns="0" tIns="0" rIns="0" bIns="0" rtlCol="0" anchor="ctr"/>
          <a:lstStyle/>
          <a:p>
            <a:pPr marL="0" indent="0" algn="l">
              <a:buNone/>
            </a:pPr>
            <a:r>
              <a:rPr lang="en-US" sz="3600" b="1" dirty="0">
                <a:solidFill>
                  <a:schemeClr val="tx1"/>
                </a:solidFill>
              </a:rPr>
              <a:t>Arquitectura: API REST con cache-aside</a:t>
            </a:r>
            <a:endParaRPr lang="en-US" sz="3600" dirty="0"/>
          </a:p>
        </p:txBody>
      </p:sp>
      <p:sp>
        <p:nvSpPr>
          <p:cNvPr id="3" name="Text 0"/>
          <p:cNvSpPr>
            <a:spLocks noGrp="1"/>
          </p:cNvSpPr>
          <p:nvPr>
            <p:ph type="body" idx="101" hasCustomPrompt="1"/>
          </p:nvPr>
        </p:nvSpPr>
        <p:spPr>
          <a:xfrm>
            <a:off x="548640" y="6355080"/>
            <a:ext cx="6858000" cy="274320"/>
          </a:xfrm>
          <a:prstGeom prst="rect">
            <a:avLst/>
          </a:prstGeom>
          <a:noFill/>
          <a:ln/>
        </p:spPr>
        <p:txBody>
          <a:bodyPr wrap="square" lIns="0" tIns="0" rIns="0" bIns="0" rtlCol="0" anchor="ctr"/>
          <a:lstStyle/>
          <a:p>
            <a:pPr marL="0" indent="0">
              <a:buNone/>
            </a:pPr>
            <a:r>
              <a:rPr lang="en-US" sz="1100" dirty="0">
                <a:solidFill>
                  <a:schemeClr val="accent4"/>
                </a:solidFill>
              </a:rPr>
              <a:t>A · Tema y arquitectura</a:t>
            </a:r>
            <a:endParaRPr lang="en-US" sz="1100" dirty="0"/>
          </a:p>
        </p:txBody>
      </p:sp>
      <p:sp>
        <p:nvSpPr>
          <p:cNvPr id="4" name="Text 0"/>
          <p:cNvSpPr>
            <a:spLocks noGrp="1"/>
          </p:cNvSpPr>
          <p:nvPr>
            <p:ph type="body" idx="102" hasCustomPrompt="1"/>
          </p:nvPr>
        </p:nvSpPr>
        <p:spPr>
          <a:xfrm>
            <a:off x="7589520" y="6355080"/>
            <a:ext cx="4053535" cy="274320"/>
          </a:xfrm>
          <a:prstGeom prst="rect">
            <a:avLst/>
          </a:prstGeom>
          <a:noFill/>
          <a:ln/>
        </p:spPr>
        <p:txBody>
          <a:bodyPr wrap="square" lIns="0" tIns="0" rIns="0" bIns="0" rtlCol="0" anchor="ctr"/>
          <a:lstStyle/>
          <a:p>
            <a:pPr marL="0" indent="0" algn="r">
              <a:buNone/>
            </a:pPr>
            <a:r>
              <a:rPr lang="en-US" sz="1100" dirty="0">
                <a:solidFill>
                  <a:schemeClr val="accent4"/>
                </a:solidFill>
              </a:rPr>
              <a:t>docs/arquitectura/01-componentes.png</a:t>
            </a:r>
            <a:endParaRPr lang="en-US" sz="1100" dirty="0"/>
          </a:p>
        </p:txBody>
      </p:sp>
      <p:sp>
        <p:nvSpPr>
          <p:cNvPr id="5" name="Shape 3"/>
          <p:cNvSpPr/>
          <p:nvPr/>
        </p:nvSpPr>
        <p:spPr>
          <a:xfrm>
            <a:off x="548640" y="1371600"/>
            <a:ext cx="7223760" cy="4343400"/>
          </a:xfrm>
          <a:prstGeom prst="roundRect">
            <a:avLst>
              <a:gd name="adj" fmla="val 1684"/>
            </a:avLst>
          </a:prstGeom>
          <a:solidFill>
            <a:schemeClr val="bg1"/>
          </a:solidFill>
          <a:ln w="12700">
            <a:solidFill>
              <a:schemeClr val="accent6"/>
            </a:solidFill>
            <a:prstDash val="solid"/>
          </a:ln>
        </p:spPr>
        <p:txBody>
          <a:bodyPr/>
          <a:lstStyle/>
          <a:p>
            <a:endParaRPr lang="es-ES_tradnl"/>
          </a:p>
        </p:txBody>
      </p:sp>
      <p:pic>
        <p:nvPicPr>
          <p:cNvPr id="6" name="Image 0" descr="Diagrama de componentes: cliente o tests, API Express con sus módulos, Redis y PostgreSQL, con los puntos de integración PI-1 a PI-4"/>
          <p:cNvPicPr>
            <a:picLocks noChangeAspect="1"/>
          </p:cNvPicPr>
          <p:nvPr/>
        </p:nvPicPr>
        <p:blipFill>
          <a:blip r:embed="rId3"/>
          <a:stretch>
            <a:fillRect/>
          </a:stretch>
        </p:blipFill>
        <p:spPr>
          <a:xfrm>
            <a:off x="658368" y="2281742"/>
            <a:ext cx="7004304" cy="2523116"/>
          </a:xfrm>
          <a:prstGeom prst="rect">
            <a:avLst/>
          </a:prstGeom>
        </p:spPr>
      </p:pic>
      <p:sp>
        <p:nvSpPr>
          <p:cNvPr id="7" name="Text 4"/>
          <p:cNvSpPr txBox="1"/>
          <p:nvPr/>
        </p:nvSpPr>
        <p:spPr>
          <a:xfrm>
            <a:off x="548640" y="5852160"/>
            <a:ext cx="7223760" cy="274320"/>
          </a:xfrm>
          <a:prstGeom prst="rect">
            <a:avLst/>
          </a:prstGeom>
          <a:noFill/>
          <a:ln/>
        </p:spPr>
        <p:txBody>
          <a:bodyPr wrap="square" lIns="0" tIns="0" rIns="0" bIns="0" rtlCol="0" anchor="t"/>
          <a:lstStyle/>
          <a:p>
            <a:pPr marL="0" indent="0">
              <a:buNone/>
            </a:pPr>
            <a:r>
              <a:rPr lang="en-US" sz="1200" dirty="0">
                <a:solidFill>
                  <a:schemeClr val="accent4"/>
                </a:solidFill>
                <a:latin typeface="Arial" pitchFamily="34" charset="0"/>
                <a:ea typeface="Arial" pitchFamily="34" charset="-122"/>
                <a:cs typeface="Arial" pitchFamily="34" charset="-120"/>
              </a:rPr>
              <a:t>Node 24 + Express 5 + TypeScript · Redis 7.4 · PostgreSQL 17 · Docker Compose</a:t>
            </a:r>
            <a:endParaRPr lang="en-US" sz="1200" dirty="0"/>
          </a:p>
        </p:txBody>
      </p:sp>
      <p:sp>
        <p:nvSpPr>
          <p:cNvPr id="8" name="Shape 5"/>
          <p:cNvSpPr/>
          <p:nvPr/>
        </p:nvSpPr>
        <p:spPr>
          <a:xfrm>
            <a:off x="8092440" y="1463040"/>
            <a:ext cx="457200" cy="457200"/>
          </a:xfrm>
          <a:prstGeom prst="ellipse">
            <a:avLst/>
          </a:prstGeom>
          <a:solidFill>
            <a:schemeClr val="accent3"/>
          </a:solidFill>
          <a:ln/>
        </p:spPr>
        <p:txBody>
          <a:bodyPr/>
          <a:lstStyle/>
          <a:p>
            <a:endParaRPr lang="es-ES_tradnl"/>
          </a:p>
        </p:txBody>
      </p:sp>
      <p:sp>
        <p:nvSpPr>
          <p:cNvPr id="9" name="Text 6"/>
          <p:cNvSpPr txBox="1"/>
          <p:nvPr/>
        </p:nvSpPr>
        <p:spPr>
          <a:xfrm>
            <a:off x="8092440" y="14630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1</a:t>
            </a:r>
            <a:endParaRPr lang="en-US" sz="1600" dirty="0"/>
          </a:p>
        </p:txBody>
      </p:sp>
      <p:sp>
        <p:nvSpPr>
          <p:cNvPr id="10" name="Text 7"/>
          <p:cNvSpPr txBox="1"/>
          <p:nvPr/>
        </p:nvSpPr>
        <p:spPr>
          <a:xfrm>
            <a:off x="8732520" y="1490472"/>
            <a:ext cx="2907792" cy="411480"/>
          </a:xfrm>
          <a:prstGeom prst="rect">
            <a:avLst/>
          </a:prstGeom>
          <a:noFill/>
          <a:ln/>
        </p:spPr>
        <p:txBody>
          <a:bodyPr wrap="square" lIns="0" tIns="0" rIns="0" bIns="0" rtlCol="0" anchor="t"/>
          <a:lstStyle/>
          <a:p>
            <a:pPr marL="0" indent="0">
              <a:buNone/>
            </a:pPr>
            <a:r>
              <a:rPr lang="en-US" sz="1800" b="1" dirty="0">
                <a:solidFill>
                  <a:schemeClr val="tx1"/>
                </a:solidFill>
                <a:latin typeface="Arial" pitchFamily="34" charset="0"/>
                <a:ea typeface="Arial" pitchFamily="34" charset="-122"/>
                <a:cs typeface="Arial" pitchFamily="34" charset="-120"/>
              </a:rPr>
              <a:t>Lectura</a:t>
            </a:r>
            <a:endParaRPr lang="en-US" sz="1800" dirty="0"/>
          </a:p>
        </p:txBody>
      </p:sp>
      <p:sp>
        <p:nvSpPr>
          <p:cNvPr id="11" name="Text 8"/>
          <p:cNvSpPr txBox="1"/>
          <p:nvPr/>
        </p:nvSpPr>
        <p:spPr>
          <a:xfrm>
            <a:off x="8732520" y="1920240"/>
            <a:ext cx="2907792" cy="868680"/>
          </a:xfrm>
          <a:prstGeom prst="rect">
            <a:avLst/>
          </a:prstGeom>
          <a:noFill/>
          <a:ln/>
        </p:spPr>
        <p:txBody>
          <a:bodyPr wrap="square" lIns="0" tIns="0" rIns="0" bIns="0" rtlCol="0" anchor="t"/>
          <a:lstStyle/>
          <a:p>
            <a:pPr marL="0" indent="0">
              <a:buNone/>
            </a:pPr>
            <a:r>
              <a:rPr lang="en-US" sz="1500" dirty="0">
                <a:solidFill>
                  <a:schemeClr val="tx2"/>
                </a:solidFill>
                <a:latin typeface="Arial" pitchFamily="34" charset="0"/>
                <a:ea typeface="Arial" pitchFamily="34" charset="-122"/>
                <a:cs typeface="Arial" pitchFamily="34" charset="-120"/>
              </a:rPr>
              <a:t>Redis primero; si falta, PostgreSQL y SET con TTL (60 s).</a:t>
            </a:r>
            <a:endParaRPr lang="en-US" sz="1500" dirty="0"/>
          </a:p>
        </p:txBody>
      </p:sp>
      <p:sp>
        <p:nvSpPr>
          <p:cNvPr id="12" name="Shape 9"/>
          <p:cNvSpPr/>
          <p:nvPr/>
        </p:nvSpPr>
        <p:spPr>
          <a:xfrm>
            <a:off x="8092440" y="2926080"/>
            <a:ext cx="457200" cy="457200"/>
          </a:xfrm>
          <a:prstGeom prst="ellipse">
            <a:avLst/>
          </a:prstGeom>
          <a:solidFill>
            <a:schemeClr val="accent3"/>
          </a:solidFill>
          <a:ln/>
        </p:spPr>
        <p:txBody>
          <a:bodyPr/>
          <a:lstStyle/>
          <a:p>
            <a:endParaRPr lang="es-ES_tradnl"/>
          </a:p>
        </p:txBody>
      </p:sp>
      <p:sp>
        <p:nvSpPr>
          <p:cNvPr id="13" name="Text 10"/>
          <p:cNvSpPr txBox="1"/>
          <p:nvPr/>
        </p:nvSpPr>
        <p:spPr>
          <a:xfrm>
            <a:off x="8092440" y="29260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2</a:t>
            </a:r>
            <a:endParaRPr lang="en-US" sz="1600" dirty="0"/>
          </a:p>
        </p:txBody>
      </p:sp>
      <p:sp>
        <p:nvSpPr>
          <p:cNvPr id="14" name="Text 11"/>
          <p:cNvSpPr txBox="1"/>
          <p:nvPr/>
        </p:nvSpPr>
        <p:spPr>
          <a:xfrm>
            <a:off x="8732520" y="2953512"/>
            <a:ext cx="2907792" cy="411480"/>
          </a:xfrm>
          <a:prstGeom prst="rect">
            <a:avLst/>
          </a:prstGeom>
          <a:noFill/>
          <a:ln/>
        </p:spPr>
        <p:txBody>
          <a:bodyPr wrap="square" lIns="0" tIns="0" rIns="0" bIns="0" rtlCol="0" anchor="t"/>
          <a:lstStyle/>
          <a:p>
            <a:pPr marL="0" indent="0">
              <a:buNone/>
            </a:pPr>
            <a:r>
              <a:rPr lang="en-US" sz="1800" b="1" dirty="0">
                <a:solidFill>
                  <a:schemeClr val="tx1"/>
                </a:solidFill>
                <a:latin typeface="Arial" pitchFamily="34" charset="0"/>
                <a:ea typeface="Arial" pitchFamily="34" charset="-122"/>
                <a:cs typeface="Arial" pitchFamily="34" charset="-120"/>
              </a:rPr>
              <a:t>Escritura</a:t>
            </a:r>
            <a:endParaRPr lang="en-US" sz="1800" dirty="0"/>
          </a:p>
        </p:txBody>
      </p:sp>
      <p:sp>
        <p:nvSpPr>
          <p:cNvPr id="15" name="Text 12"/>
          <p:cNvSpPr txBox="1"/>
          <p:nvPr/>
        </p:nvSpPr>
        <p:spPr>
          <a:xfrm>
            <a:off x="8732520" y="3383280"/>
            <a:ext cx="2907792" cy="868680"/>
          </a:xfrm>
          <a:prstGeom prst="rect">
            <a:avLst/>
          </a:prstGeom>
          <a:noFill/>
          <a:ln/>
        </p:spPr>
        <p:txBody>
          <a:bodyPr wrap="square" lIns="0" tIns="0" rIns="0" bIns="0" rtlCol="0" anchor="t"/>
          <a:lstStyle/>
          <a:p>
            <a:pPr marL="0" indent="0">
              <a:buNone/>
            </a:pPr>
            <a:r>
              <a:rPr lang="en-US" sz="1500" dirty="0">
                <a:solidFill>
                  <a:schemeClr val="tx2"/>
                </a:solidFill>
                <a:latin typeface="Arial" pitchFamily="34" charset="0"/>
                <a:ea typeface="Arial" pitchFamily="34" charset="-122"/>
                <a:cs typeface="Arial" pitchFamily="34" charset="-120"/>
              </a:rPr>
              <a:t>UPDATE en PostgreSQL y después DEL de la llave.</a:t>
            </a:r>
            <a:endParaRPr lang="en-US" sz="1500" dirty="0"/>
          </a:p>
        </p:txBody>
      </p:sp>
      <p:sp>
        <p:nvSpPr>
          <p:cNvPr id="16" name="Shape 13"/>
          <p:cNvSpPr/>
          <p:nvPr/>
        </p:nvSpPr>
        <p:spPr>
          <a:xfrm>
            <a:off x="8092440" y="4389120"/>
            <a:ext cx="457200" cy="457200"/>
          </a:xfrm>
          <a:prstGeom prst="ellipse">
            <a:avLst/>
          </a:prstGeom>
          <a:solidFill>
            <a:schemeClr val="accent3"/>
          </a:solidFill>
          <a:ln/>
        </p:spPr>
        <p:txBody>
          <a:bodyPr/>
          <a:lstStyle/>
          <a:p>
            <a:endParaRPr lang="es-ES_tradnl"/>
          </a:p>
        </p:txBody>
      </p:sp>
      <p:sp>
        <p:nvSpPr>
          <p:cNvPr id="17" name="Text 14"/>
          <p:cNvSpPr txBox="1"/>
          <p:nvPr/>
        </p:nvSpPr>
        <p:spPr>
          <a:xfrm>
            <a:off x="8092440" y="43891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3</a:t>
            </a:r>
            <a:endParaRPr lang="en-US" sz="1600" dirty="0"/>
          </a:p>
        </p:txBody>
      </p:sp>
      <p:sp>
        <p:nvSpPr>
          <p:cNvPr id="18" name="Text 15"/>
          <p:cNvSpPr txBox="1"/>
          <p:nvPr/>
        </p:nvSpPr>
        <p:spPr>
          <a:xfrm>
            <a:off x="8732520" y="4416552"/>
            <a:ext cx="2907792" cy="411480"/>
          </a:xfrm>
          <a:prstGeom prst="rect">
            <a:avLst/>
          </a:prstGeom>
          <a:noFill/>
          <a:ln/>
        </p:spPr>
        <p:txBody>
          <a:bodyPr wrap="square" lIns="0" tIns="0" rIns="0" bIns="0" rtlCol="0" anchor="t"/>
          <a:lstStyle/>
          <a:p>
            <a:pPr marL="0" indent="0">
              <a:buNone/>
            </a:pPr>
            <a:r>
              <a:rPr lang="en-US" sz="1800" b="1" dirty="0">
                <a:solidFill>
                  <a:schemeClr val="tx1"/>
                </a:solidFill>
                <a:latin typeface="Arial" pitchFamily="34" charset="0"/>
                <a:ea typeface="Arial" pitchFamily="34" charset="-122"/>
                <a:cs typeface="Arial" pitchFamily="34" charset="-120"/>
              </a:rPr>
              <a:t>Origen visible</a:t>
            </a:r>
            <a:endParaRPr lang="en-US" sz="1800" dirty="0"/>
          </a:p>
        </p:txBody>
      </p:sp>
      <p:sp>
        <p:nvSpPr>
          <p:cNvPr id="19" name="Text 16"/>
          <p:cNvSpPr txBox="1"/>
          <p:nvPr/>
        </p:nvSpPr>
        <p:spPr>
          <a:xfrm>
            <a:off x="8732520" y="4846320"/>
            <a:ext cx="2907792" cy="868680"/>
          </a:xfrm>
          <a:prstGeom prst="rect">
            <a:avLst/>
          </a:prstGeom>
          <a:noFill/>
          <a:ln/>
        </p:spPr>
        <p:txBody>
          <a:bodyPr wrap="square" lIns="0" tIns="0" rIns="0" bIns="0" rtlCol="0" anchor="t"/>
          <a:lstStyle/>
          <a:p>
            <a:pPr marL="0" indent="0">
              <a:buNone/>
            </a:pPr>
            <a:r>
              <a:rPr lang="en-US" sz="1500" dirty="0">
                <a:solidFill>
                  <a:schemeClr val="tx2"/>
                </a:solidFill>
                <a:latin typeface="Arial" pitchFamily="34" charset="0"/>
                <a:ea typeface="Arial" pitchFamily="34" charset="-122"/>
                <a:cs typeface="Arial" pitchFamily="34" charset="-120"/>
              </a:rPr>
              <a:t>Cada respuesta trae X-Cache: HIT, MISS o BYPASS.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685800"/>
          </a:xfrm>
          <a:prstGeom prst="rect">
            <a:avLst/>
          </a:prstGeom>
          <a:noFill/>
          <a:ln/>
        </p:spPr>
        <p:txBody>
          <a:bodyPr wrap="square" lIns="0" tIns="0" rIns="0" bIns="0" rtlCol="0" anchor="ctr"/>
          <a:lstStyle/>
          <a:p>
            <a:pPr marL="0" indent="0" algn="l">
              <a:buNone/>
            </a:pPr>
            <a:r>
              <a:rPr lang="en-US" sz="3600" b="1" dirty="0">
                <a:solidFill>
                  <a:schemeClr val="tx1"/>
                </a:solidFill>
              </a:rPr>
              <a:t>Lectura: MISS y HIT</a:t>
            </a:r>
            <a:endParaRPr lang="en-US" sz="3600" dirty="0"/>
          </a:p>
        </p:txBody>
      </p:sp>
      <p:sp>
        <p:nvSpPr>
          <p:cNvPr id="3" name="Text 0"/>
          <p:cNvSpPr>
            <a:spLocks noGrp="1"/>
          </p:cNvSpPr>
          <p:nvPr>
            <p:ph type="body" idx="101" hasCustomPrompt="1"/>
          </p:nvPr>
        </p:nvSpPr>
        <p:spPr>
          <a:xfrm>
            <a:off x="548640" y="6355080"/>
            <a:ext cx="6858000" cy="274320"/>
          </a:xfrm>
          <a:prstGeom prst="rect">
            <a:avLst/>
          </a:prstGeom>
          <a:noFill/>
          <a:ln/>
        </p:spPr>
        <p:txBody>
          <a:bodyPr wrap="square" lIns="0" tIns="0" rIns="0" bIns="0" rtlCol="0" anchor="ctr"/>
          <a:lstStyle/>
          <a:p>
            <a:pPr marL="0" indent="0">
              <a:buNone/>
            </a:pPr>
            <a:r>
              <a:rPr lang="en-US" sz="1100" dirty="0">
                <a:solidFill>
                  <a:schemeClr val="accent4"/>
                </a:solidFill>
              </a:rPr>
              <a:t>A · Tema y arquitectura</a:t>
            </a:r>
            <a:endParaRPr lang="en-US" sz="1100" dirty="0"/>
          </a:p>
        </p:txBody>
      </p:sp>
      <p:sp>
        <p:nvSpPr>
          <p:cNvPr id="4" name="Text 0"/>
          <p:cNvSpPr>
            <a:spLocks noGrp="1"/>
          </p:cNvSpPr>
          <p:nvPr>
            <p:ph type="body" idx="102" hasCustomPrompt="1"/>
          </p:nvPr>
        </p:nvSpPr>
        <p:spPr>
          <a:xfrm>
            <a:off x="7589520" y="6355080"/>
            <a:ext cx="4053535" cy="274320"/>
          </a:xfrm>
          <a:prstGeom prst="rect">
            <a:avLst/>
          </a:prstGeom>
          <a:noFill/>
          <a:ln/>
        </p:spPr>
        <p:txBody>
          <a:bodyPr wrap="square" lIns="0" tIns="0" rIns="0" bIns="0" rtlCol="0" anchor="ctr"/>
          <a:lstStyle/>
          <a:p>
            <a:pPr marL="0" indent="0" algn="r">
              <a:buNone/>
            </a:pPr>
            <a:r>
              <a:rPr lang="en-US" sz="1100" dirty="0">
                <a:solidFill>
                  <a:schemeClr val="accent4"/>
                </a:solidFill>
              </a:rPr>
              <a:t>docs/arquitectura/02 y 03</a:t>
            </a:r>
            <a:endParaRPr lang="en-US" sz="1100" dirty="0"/>
          </a:p>
        </p:txBody>
      </p:sp>
      <p:sp>
        <p:nvSpPr>
          <p:cNvPr id="5" name="Shape 3"/>
          <p:cNvSpPr/>
          <p:nvPr/>
        </p:nvSpPr>
        <p:spPr>
          <a:xfrm>
            <a:off x="548640" y="1371600"/>
            <a:ext cx="5364328" cy="4069080"/>
          </a:xfrm>
          <a:prstGeom prst="roundRect">
            <a:avLst>
              <a:gd name="adj" fmla="val 1798"/>
            </a:avLst>
          </a:prstGeom>
          <a:solidFill>
            <a:schemeClr val="bg1"/>
          </a:solidFill>
          <a:ln w="12700">
            <a:solidFill>
              <a:schemeClr val="accent6"/>
            </a:solidFill>
            <a:prstDash val="solid"/>
          </a:ln>
        </p:spPr>
        <p:txBody>
          <a:bodyPr/>
          <a:lstStyle/>
          <a:p>
            <a:endParaRPr lang="es-ES_tradnl"/>
          </a:p>
        </p:txBody>
      </p:sp>
      <p:pic>
        <p:nvPicPr>
          <p:cNvPr id="6" name="Image 0" descr="Secuencia de lectura con MISS: la API consulta Redis, no encuentra la llave, lee de PostgreSQL, normaliza y guarda con TTL"/>
          <p:cNvPicPr>
            <a:picLocks noChangeAspect="1"/>
          </p:cNvPicPr>
          <p:nvPr/>
        </p:nvPicPr>
        <p:blipFill>
          <a:blip r:embed="rId3"/>
          <a:stretch>
            <a:fillRect/>
          </a:stretch>
        </p:blipFill>
        <p:spPr>
          <a:xfrm>
            <a:off x="658368" y="1637590"/>
            <a:ext cx="5144872" cy="3537099"/>
          </a:xfrm>
          <a:prstGeom prst="rect">
            <a:avLst/>
          </a:prstGeom>
        </p:spPr>
      </p:pic>
      <p:sp>
        <p:nvSpPr>
          <p:cNvPr id="7" name="Text 4"/>
          <p:cNvSpPr txBox="1"/>
          <p:nvPr/>
        </p:nvSpPr>
        <p:spPr>
          <a:xfrm>
            <a:off x="548640" y="5577840"/>
            <a:ext cx="5364328" cy="457200"/>
          </a:xfrm>
          <a:prstGeom prst="rect">
            <a:avLst/>
          </a:prstGeom>
          <a:noFill/>
          <a:ln/>
        </p:spPr>
        <p:txBody>
          <a:bodyPr wrap="square" lIns="0" tIns="0" rIns="0" bIns="0" rtlCol="0" anchor="t"/>
          <a:lstStyle/>
          <a:p>
            <a:pPr marL="0" indent="0">
              <a:buNone/>
            </a:pPr>
            <a:r>
              <a:rPr lang="en-US" sz="1600" b="1" dirty="0">
                <a:solidFill>
                  <a:schemeClr val="tx2"/>
                </a:solidFill>
                <a:latin typeface="Arial" pitchFamily="34" charset="0"/>
                <a:ea typeface="Arial" pitchFamily="34" charset="-122"/>
                <a:cs typeface="Arial" pitchFamily="34" charset="-120"/>
              </a:rPr>
              <a:t>MISS:</a:t>
            </a:r>
            <a:r>
              <a:rPr lang="en-US" sz="1600" dirty="0">
                <a:solidFill>
                  <a:schemeClr val="tx2"/>
                </a:solidFill>
                <a:latin typeface="Arial" pitchFamily="34" charset="0"/>
                <a:ea typeface="Arial" pitchFamily="34" charset="-122"/>
                <a:cs typeface="Arial" pitchFamily="34" charset="-120"/>
              </a:rPr>
              <a:t> Redis vacío → SELECT → normalizar() → SET con TTL.</a:t>
            </a:r>
            <a:endParaRPr lang="en-US" sz="1600" dirty="0"/>
          </a:p>
        </p:txBody>
      </p:sp>
      <p:sp>
        <p:nvSpPr>
          <p:cNvPr id="8" name="Shape 5"/>
          <p:cNvSpPr/>
          <p:nvPr/>
        </p:nvSpPr>
        <p:spPr>
          <a:xfrm>
            <a:off x="6278728" y="1371600"/>
            <a:ext cx="5364328" cy="4069080"/>
          </a:xfrm>
          <a:prstGeom prst="roundRect">
            <a:avLst>
              <a:gd name="adj" fmla="val 1798"/>
            </a:avLst>
          </a:prstGeom>
          <a:solidFill>
            <a:schemeClr val="bg1"/>
          </a:solidFill>
          <a:ln w="12700">
            <a:solidFill>
              <a:schemeClr val="accent6"/>
            </a:solidFill>
            <a:prstDash val="solid"/>
          </a:ln>
        </p:spPr>
        <p:txBody>
          <a:bodyPr/>
          <a:lstStyle/>
          <a:p>
            <a:endParaRPr lang="es-ES_tradnl"/>
          </a:p>
        </p:txBody>
      </p:sp>
      <p:pic>
        <p:nvPicPr>
          <p:cNvPr id="9" name="Image 1" descr="Secuencia de lectura con HIT: la API encuentra la llave en Redis y responde sin consultar PostgreSQL"/>
          <p:cNvPicPr>
            <a:picLocks noChangeAspect="1"/>
          </p:cNvPicPr>
          <p:nvPr/>
        </p:nvPicPr>
        <p:blipFill>
          <a:blip r:embed="rId4"/>
          <a:stretch>
            <a:fillRect/>
          </a:stretch>
        </p:blipFill>
        <p:spPr>
          <a:xfrm>
            <a:off x="6388456" y="2184797"/>
            <a:ext cx="5144872" cy="2442686"/>
          </a:xfrm>
          <a:prstGeom prst="rect">
            <a:avLst/>
          </a:prstGeom>
        </p:spPr>
      </p:pic>
      <p:sp>
        <p:nvSpPr>
          <p:cNvPr id="10" name="Text 6"/>
          <p:cNvSpPr txBox="1"/>
          <p:nvPr/>
        </p:nvSpPr>
        <p:spPr>
          <a:xfrm>
            <a:off x="6278728" y="5577840"/>
            <a:ext cx="5364328" cy="457200"/>
          </a:xfrm>
          <a:prstGeom prst="rect">
            <a:avLst/>
          </a:prstGeom>
          <a:noFill/>
          <a:ln/>
        </p:spPr>
        <p:txBody>
          <a:bodyPr wrap="square" lIns="0" tIns="0" rIns="0" bIns="0" rtlCol="0" anchor="t"/>
          <a:lstStyle/>
          <a:p>
            <a:pPr marL="0" indent="0">
              <a:buNone/>
            </a:pPr>
            <a:r>
              <a:rPr lang="en-US" sz="1600" b="1" dirty="0">
                <a:solidFill>
                  <a:schemeClr val="tx2"/>
                </a:solidFill>
                <a:latin typeface="Arial" pitchFamily="34" charset="0"/>
                <a:ea typeface="Arial" pitchFamily="34" charset="-122"/>
                <a:cs typeface="Arial" pitchFamily="34" charset="-120"/>
              </a:rPr>
              <a:t>HIT:</a:t>
            </a:r>
            <a:r>
              <a:rPr lang="en-US" sz="1600" dirty="0">
                <a:solidFill>
                  <a:schemeClr val="tx2"/>
                </a:solidFill>
                <a:latin typeface="Arial" pitchFamily="34" charset="0"/>
                <a:ea typeface="Arial" pitchFamily="34" charset="-122"/>
                <a:cs typeface="Arial" pitchFamily="34" charset="-120"/>
              </a:rPr>
              <a:t> responde Redis; PostgreSQL no se consulta.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685800"/>
          </a:xfrm>
          <a:prstGeom prst="rect">
            <a:avLst/>
          </a:prstGeom>
          <a:noFill/>
          <a:ln/>
        </p:spPr>
        <p:txBody>
          <a:bodyPr wrap="square" lIns="0" tIns="0" rIns="0" bIns="0" rtlCol="0" anchor="ctr"/>
          <a:lstStyle/>
          <a:p>
            <a:pPr marL="0" indent="0" algn="l">
              <a:buNone/>
            </a:pPr>
            <a:r>
              <a:rPr lang="en-US" sz="3600" b="1" dirty="0">
                <a:solidFill>
                  <a:schemeClr val="tx1"/>
                </a:solidFill>
              </a:rPr>
              <a:t>Escritura con invalidación y Redis caído</a:t>
            </a:r>
            <a:endParaRPr lang="en-US" sz="3600" dirty="0"/>
          </a:p>
        </p:txBody>
      </p:sp>
      <p:sp>
        <p:nvSpPr>
          <p:cNvPr id="3" name="Text 0"/>
          <p:cNvSpPr>
            <a:spLocks noGrp="1"/>
          </p:cNvSpPr>
          <p:nvPr>
            <p:ph type="body" idx="101" hasCustomPrompt="1"/>
          </p:nvPr>
        </p:nvSpPr>
        <p:spPr>
          <a:xfrm>
            <a:off x="548640" y="6355080"/>
            <a:ext cx="6858000" cy="274320"/>
          </a:xfrm>
          <a:prstGeom prst="rect">
            <a:avLst/>
          </a:prstGeom>
          <a:noFill/>
          <a:ln/>
        </p:spPr>
        <p:txBody>
          <a:bodyPr wrap="square" lIns="0" tIns="0" rIns="0" bIns="0" rtlCol="0" anchor="ctr"/>
          <a:lstStyle/>
          <a:p>
            <a:pPr marL="0" indent="0">
              <a:buNone/>
            </a:pPr>
            <a:r>
              <a:rPr lang="en-US" sz="1100" dirty="0">
                <a:solidFill>
                  <a:schemeClr val="accent4"/>
                </a:solidFill>
              </a:rPr>
              <a:t>A · Tema y arquitectura</a:t>
            </a:r>
            <a:endParaRPr lang="en-US" sz="1100" dirty="0"/>
          </a:p>
        </p:txBody>
      </p:sp>
      <p:sp>
        <p:nvSpPr>
          <p:cNvPr id="4" name="Text 0"/>
          <p:cNvSpPr>
            <a:spLocks noGrp="1"/>
          </p:cNvSpPr>
          <p:nvPr>
            <p:ph type="body" idx="102" hasCustomPrompt="1"/>
          </p:nvPr>
        </p:nvSpPr>
        <p:spPr>
          <a:xfrm>
            <a:off x="7589520" y="6355080"/>
            <a:ext cx="4053535" cy="274320"/>
          </a:xfrm>
          <a:prstGeom prst="rect">
            <a:avLst/>
          </a:prstGeom>
          <a:noFill/>
          <a:ln/>
        </p:spPr>
        <p:txBody>
          <a:bodyPr wrap="square" lIns="0" tIns="0" rIns="0" bIns="0" rtlCol="0" anchor="ctr"/>
          <a:lstStyle/>
          <a:p>
            <a:pPr marL="0" indent="0" algn="r">
              <a:buNone/>
            </a:pPr>
            <a:r>
              <a:rPr lang="en-US" sz="1100" dirty="0">
                <a:solidFill>
                  <a:schemeClr val="accent4"/>
                </a:solidFill>
              </a:rPr>
              <a:t>docs/arquitectura/04 y 05</a:t>
            </a:r>
            <a:endParaRPr lang="en-US" sz="1100" dirty="0"/>
          </a:p>
        </p:txBody>
      </p:sp>
      <p:sp>
        <p:nvSpPr>
          <p:cNvPr id="5" name="Shape 3"/>
          <p:cNvSpPr/>
          <p:nvPr/>
        </p:nvSpPr>
        <p:spPr>
          <a:xfrm>
            <a:off x="548640" y="1371600"/>
            <a:ext cx="5364328" cy="4069080"/>
          </a:xfrm>
          <a:prstGeom prst="roundRect">
            <a:avLst>
              <a:gd name="adj" fmla="val 1798"/>
            </a:avLst>
          </a:prstGeom>
          <a:solidFill>
            <a:schemeClr val="bg1"/>
          </a:solidFill>
          <a:ln w="12700">
            <a:solidFill>
              <a:schemeClr val="accent6"/>
            </a:solidFill>
            <a:prstDash val="solid"/>
          </a:ln>
        </p:spPr>
        <p:txBody>
          <a:bodyPr/>
          <a:lstStyle/>
          <a:p>
            <a:endParaRPr lang="es-ES_tradnl"/>
          </a:p>
        </p:txBody>
      </p:sp>
      <p:pic>
        <p:nvPicPr>
          <p:cNvPr id="6" name="Image 0" descr="Secuencia de escritura: PUT, UPDATE en PostgreSQL, DEL de la llave en Redis y lectura posterior con MISS y el valor nuevo"/>
          <p:cNvPicPr>
            <a:picLocks noChangeAspect="1"/>
          </p:cNvPicPr>
          <p:nvPr/>
        </p:nvPicPr>
        <p:blipFill>
          <a:blip r:embed="rId3"/>
          <a:stretch>
            <a:fillRect/>
          </a:stretch>
        </p:blipFill>
        <p:spPr>
          <a:xfrm>
            <a:off x="911876" y="1481328"/>
            <a:ext cx="4637856" cy="3849624"/>
          </a:xfrm>
          <a:prstGeom prst="rect">
            <a:avLst/>
          </a:prstGeom>
        </p:spPr>
      </p:pic>
      <p:sp>
        <p:nvSpPr>
          <p:cNvPr id="7" name="Text 4"/>
          <p:cNvSpPr txBox="1"/>
          <p:nvPr/>
        </p:nvSpPr>
        <p:spPr>
          <a:xfrm>
            <a:off x="548640" y="5577840"/>
            <a:ext cx="5364328" cy="457200"/>
          </a:xfrm>
          <a:prstGeom prst="rect">
            <a:avLst/>
          </a:prstGeom>
          <a:noFill/>
          <a:ln/>
        </p:spPr>
        <p:txBody>
          <a:bodyPr wrap="square" lIns="0" tIns="0" rIns="0" bIns="0" rtlCol="0" anchor="t"/>
          <a:lstStyle/>
          <a:p>
            <a:pPr marL="0" indent="0">
              <a:buNone/>
            </a:pPr>
            <a:r>
              <a:rPr lang="en-US" sz="1600" b="1" dirty="0">
                <a:solidFill>
                  <a:schemeClr val="tx2"/>
                </a:solidFill>
                <a:latin typeface="Arial" pitchFamily="34" charset="0"/>
                <a:ea typeface="Arial" pitchFamily="34" charset="-122"/>
                <a:cs typeface="Arial" pitchFamily="34" charset="-120"/>
              </a:rPr>
              <a:t>PUT:</a:t>
            </a:r>
            <a:r>
              <a:rPr lang="en-US" sz="1600" dirty="0">
                <a:solidFill>
                  <a:schemeClr val="tx2"/>
                </a:solidFill>
                <a:latin typeface="Arial" pitchFamily="34" charset="0"/>
                <a:ea typeface="Arial" pitchFamily="34" charset="-122"/>
                <a:cs typeface="Arial" pitchFamily="34" charset="-120"/>
              </a:rPr>
              <a:t> UPDATE en la BD, luego DEL producto:{id}.</a:t>
            </a:r>
            <a:endParaRPr lang="en-US" sz="1600" dirty="0"/>
          </a:p>
        </p:txBody>
      </p:sp>
      <p:sp>
        <p:nvSpPr>
          <p:cNvPr id="8" name="Shape 5"/>
          <p:cNvSpPr/>
          <p:nvPr/>
        </p:nvSpPr>
        <p:spPr>
          <a:xfrm>
            <a:off x="6278728" y="1371600"/>
            <a:ext cx="5364328" cy="4069080"/>
          </a:xfrm>
          <a:prstGeom prst="roundRect">
            <a:avLst>
              <a:gd name="adj" fmla="val 1798"/>
            </a:avLst>
          </a:prstGeom>
          <a:solidFill>
            <a:schemeClr val="bg1"/>
          </a:solidFill>
          <a:ln w="12700">
            <a:solidFill>
              <a:schemeClr val="accent6"/>
            </a:solidFill>
            <a:prstDash val="solid"/>
          </a:ln>
        </p:spPr>
        <p:txBody>
          <a:bodyPr/>
          <a:lstStyle/>
          <a:p>
            <a:endParaRPr lang="es-ES_tradnl"/>
          </a:p>
        </p:txBody>
      </p:sp>
      <p:pic>
        <p:nvPicPr>
          <p:cNvPr id="9" name="Image 1" descr="Secuencia con Redis caído: la consulta a Redis falla, la API lee de PostgreSQL y responde con X-Cache BYPASS"/>
          <p:cNvPicPr>
            <a:picLocks noChangeAspect="1"/>
          </p:cNvPicPr>
          <p:nvPr/>
        </p:nvPicPr>
        <p:blipFill>
          <a:blip r:embed="rId4"/>
          <a:stretch>
            <a:fillRect/>
          </a:stretch>
        </p:blipFill>
        <p:spPr>
          <a:xfrm>
            <a:off x="6388456" y="1772982"/>
            <a:ext cx="5144872" cy="3266317"/>
          </a:xfrm>
          <a:prstGeom prst="rect">
            <a:avLst/>
          </a:prstGeom>
        </p:spPr>
      </p:pic>
      <p:sp>
        <p:nvSpPr>
          <p:cNvPr id="10" name="Text 6"/>
          <p:cNvSpPr txBox="1"/>
          <p:nvPr/>
        </p:nvSpPr>
        <p:spPr>
          <a:xfrm>
            <a:off x="6278728" y="5577840"/>
            <a:ext cx="5364328" cy="457200"/>
          </a:xfrm>
          <a:prstGeom prst="rect">
            <a:avLst/>
          </a:prstGeom>
          <a:noFill/>
          <a:ln/>
        </p:spPr>
        <p:txBody>
          <a:bodyPr wrap="square" lIns="0" tIns="0" rIns="0" bIns="0" rtlCol="0" anchor="t"/>
          <a:lstStyle/>
          <a:p>
            <a:pPr marL="0" indent="0">
              <a:buNone/>
            </a:pPr>
            <a:r>
              <a:rPr lang="en-US" sz="1600" b="1" dirty="0">
                <a:solidFill>
                  <a:schemeClr val="tx2"/>
                </a:solidFill>
                <a:latin typeface="Arial" pitchFamily="34" charset="0"/>
                <a:ea typeface="Arial" pitchFamily="34" charset="-122"/>
                <a:cs typeface="Arial" pitchFamily="34" charset="-120"/>
              </a:rPr>
              <a:t>Redis caído:</a:t>
            </a:r>
            <a:r>
              <a:rPr lang="en-US" sz="1600" dirty="0">
                <a:solidFill>
                  <a:schemeClr val="tx2"/>
                </a:solidFill>
                <a:latin typeface="Arial" pitchFamily="34" charset="0"/>
                <a:ea typeface="Arial" pitchFamily="34" charset="-122"/>
                <a:cs typeface="Arial" pitchFamily="34" charset="-120"/>
              </a:rPr>
              <a:t> falla en ≤ 500 ms → SELECT → BYPASS.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685800"/>
          </a:xfrm>
          <a:prstGeom prst="rect">
            <a:avLst/>
          </a:prstGeom>
          <a:noFill/>
          <a:ln/>
        </p:spPr>
        <p:txBody>
          <a:bodyPr wrap="square" lIns="0" tIns="0" rIns="0" bIns="0" rtlCol="0" anchor="ctr"/>
          <a:lstStyle/>
          <a:p>
            <a:pPr marL="0" indent="0" algn="l">
              <a:buNone/>
            </a:pPr>
            <a:r>
              <a:rPr lang="en-US" sz="3600" b="1" dirty="0">
                <a:solidFill>
                  <a:schemeClr val="tx1"/>
                </a:solidFill>
              </a:rPr>
              <a:t>Estrategia: componentes reales, sin mocks</a:t>
            </a:r>
            <a:endParaRPr lang="en-US" sz="3600" dirty="0"/>
          </a:p>
        </p:txBody>
      </p:sp>
      <p:sp>
        <p:nvSpPr>
          <p:cNvPr id="3" name="Text 0"/>
          <p:cNvSpPr>
            <a:spLocks noGrp="1"/>
          </p:cNvSpPr>
          <p:nvPr>
            <p:ph type="body" idx="101" hasCustomPrompt="1"/>
          </p:nvPr>
        </p:nvSpPr>
        <p:spPr>
          <a:xfrm>
            <a:off x="548640" y="6355080"/>
            <a:ext cx="6858000" cy="274320"/>
          </a:xfrm>
          <a:prstGeom prst="rect">
            <a:avLst/>
          </a:prstGeom>
          <a:noFill/>
          <a:ln/>
        </p:spPr>
        <p:txBody>
          <a:bodyPr wrap="square" lIns="0" tIns="0" rIns="0" bIns="0" rtlCol="0" anchor="ctr"/>
          <a:lstStyle/>
          <a:p>
            <a:pPr marL="0" indent="0">
              <a:buNone/>
            </a:pPr>
            <a:r>
              <a:rPr lang="en-US" sz="1100" dirty="0">
                <a:solidFill>
                  <a:schemeClr val="accent4"/>
                </a:solidFill>
              </a:rPr>
              <a:t>B · Estrategia y casos</a:t>
            </a:r>
            <a:endParaRPr lang="en-US" sz="1100" dirty="0"/>
          </a:p>
        </p:txBody>
      </p:sp>
      <p:sp>
        <p:nvSpPr>
          <p:cNvPr id="4" name="Text 0"/>
          <p:cNvSpPr>
            <a:spLocks noGrp="1"/>
          </p:cNvSpPr>
          <p:nvPr>
            <p:ph type="body" idx="102" hasCustomPrompt="1"/>
          </p:nvPr>
        </p:nvSpPr>
        <p:spPr>
          <a:xfrm>
            <a:off x="7589520" y="6355080"/>
            <a:ext cx="4053535" cy="274320"/>
          </a:xfrm>
          <a:prstGeom prst="rect">
            <a:avLst/>
          </a:prstGeom>
          <a:noFill/>
          <a:ln/>
        </p:spPr>
        <p:txBody>
          <a:bodyPr wrap="square" lIns="0" tIns="0" rIns="0" bIns="0" rtlCol="0" anchor="ctr"/>
          <a:lstStyle/>
          <a:p>
            <a:pPr marL="0" indent="0" algn="r">
              <a:buNone/>
            </a:pPr>
            <a:r>
              <a:rPr lang="en-US" sz="1100" dirty="0">
                <a:solidFill>
                  <a:schemeClr val="accent4"/>
                </a:solidFill>
              </a:rPr>
              <a:t>docs/estrategia.md, secciones 1 a 10</a:t>
            </a:r>
            <a:endParaRPr lang="en-US" sz="1100" dirty="0"/>
          </a:p>
        </p:txBody>
      </p:sp>
      <p:sp>
        <p:nvSpPr>
          <p:cNvPr id="5" name="Shape 3"/>
          <p:cNvSpPr/>
          <p:nvPr/>
        </p:nvSpPr>
        <p:spPr>
          <a:xfrm>
            <a:off x="548640" y="1371600"/>
            <a:ext cx="5410048" cy="2240280"/>
          </a:xfrm>
          <a:prstGeom prst="roundRect">
            <a:avLst>
              <a:gd name="adj" fmla="val 4082"/>
            </a:avLst>
          </a:prstGeom>
          <a:solidFill>
            <a:schemeClr val="bg2"/>
          </a:solidFill>
          <a:ln/>
        </p:spPr>
        <p:txBody>
          <a:bodyPr/>
          <a:lstStyle/>
          <a:p>
            <a:endParaRPr lang="es-ES_tradnl"/>
          </a:p>
        </p:txBody>
      </p:sp>
      <p:sp>
        <p:nvSpPr>
          <p:cNvPr id="6" name="Shape 4"/>
          <p:cNvSpPr/>
          <p:nvPr/>
        </p:nvSpPr>
        <p:spPr>
          <a:xfrm>
            <a:off x="868680" y="1691640"/>
            <a:ext cx="457200" cy="457200"/>
          </a:xfrm>
          <a:prstGeom prst="ellipse">
            <a:avLst/>
          </a:prstGeom>
          <a:solidFill>
            <a:schemeClr val="accent3"/>
          </a:solidFill>
          <a:ln/>
        </p:spPr>
        <p:txBody>
          <a:bodyPr/>
          <a:lstStyle/>
          <a:p>
            <a:endParaRPr lang="es-ES_tradnl"/>
          </a:p>
        </p:txBody>
      </p:sp>
      <p:sp>
        <p:nvSpPr>
          <p:cNvPr id="7" name="Text 5"/>
          <p:cNvSpPr txBox="1"/>
          <p:nvPr/>
        </p:nvSpPr>
        <p:spPr>
          <a:xfrm>
            <a:off x="868680" y="16916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508760" y="1719072"/>
            <a:ext cx="4129888" cy="41148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Dependencias reales</a:t>
            </a:r>
            <a:endParaRPr lang="en-US" sz="2200" dirty="0"/>
          </a:p>
        </p:txBody>
      </p:sp>
      <p:sp>
        <p:nvSpPr>
          <p:cNvPr id="9" name="Text 7"/>
          <p:cNvSpPr txBox="1"/>
          <p:nvPr/>
        </p:nvSpPr>
        <p:spPr>
          <a:xfrm>
            <a:off x="868680" y="2423160"/>
            <a:ext cx="4769968" cy="960120"/>
          </a:xfrm>
          <a:prstGeom prst="rect">
            <a:avLst/>
          </a:prstGeom>
          <a:noFill/>
          <a:ln/>
        </p:spPr>
        <p:txBody>
          <a:bodyPr wrap="square" lIns="0" tIns="0" rIns="0" bIns="0" rtlCol="0" anchor="t"/>
          <a:lstStyle/>
          <a:p>
            <a:pPr marL="0" indent="0">
              <a:buNone/>
            </a:pPr>
            <a:r>
              <a:rPr lang="en-US" sz="1600" dirty="0">
                <a:solidFill>
                  <a:schemeClr val="tx2"/>
                </a:solidFill>
                <a:latin typeface="Arial" pitchFamily="34" charset="0"/>
                <a:ea typeface="Arial" pitchFamily="34" charset="-122"/>
                <a:cs typeface="Arial" pitchFamily="34" charset="-120"/>
              </a:rPr>
              <a:t>PostgreSQL y Redis corren en contenedores. No hay mocks de las integraciones.</a:t>
            </a:r>
            <a:endParaRPr lang="en-US" sz="1600" dirty="0"/>
          </a:p>
        </p:txBody>
      </p:sp>
      <p:sp>
        <p:nvSpPr>
          <p:cNvPr id="10" name="Shape 8"/>
          <p:cNvSpPr/>
          <p:nvPr/>
        </p:nvSpPr>
        <p:spPr>
          <a:xfrm>
            <a:off x="6233008" y="1371600"/>
            <a:ext cx="5410048" cy="2240280"/>
          </a:xfrm>
          <a:prstGeom prst="roundRect">
            <a:avLst>
              <a:gd name="adj" fmla="val 4082"/>
            </a:avLst>
          </a:prstGeom>
          <a:solidFill>
            <a:schemeClr val="bg2"/>
          </a:solidFill>
          <a:ln/>
        </p:spPr>
        <p:txBody>
          <a:bodyPr/>
          <a:lstStyle/>
          <a:p>
            <a:endParaRPr lang="es-ES_tradnl"/>
          </a:p>
        </p:txBody>
      </p:sp>
      <p:sp>
        <p:nvSpPr>
          <p:cNvPr id="11" name="Shape 9"/>
          <p:cNvSpPr/>
          <p:nvPr/>
        </p:nvSpPr>
        <p:spPr>
          <a:xfrm>
            <a:off x="6553048" y="1691640"/>
            <a:ext cx="457200" cy="457200"/>
          </a:xfrm>
          <a:prstGeom prst="ellipse">
            <a:avLst/>
          </a:prstGeom>
          <a:solidFill>
            <a:schemeClr val="accent3"/>
          </a:solidFill>
          <a:ln/>
        </p:spPr>
        <p:txBody>
          <a:bodyPr/>
          <a:lstStyle/>
          <a:p>
            <a:endParaRPr lang="es-ES_tradnl"/>
          </a:p>
        </p:txBody>
      </p:sp>
      <p:sp>
        <p:nvSpPr>
          <p:cNvPr id="12" name="Text 10"/>
          <p:cNvSpPr txBox="1"/>
          <p:nvPr/>
        </p:nvSpPr>
        <p:spPr>
          <a:xfrm>
            <a:off x="6553048" y="16916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7193128" y="1719072"/>
            <a:ext cx="4129888" cy="41148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Fallas provocadas</a:t>
            </a:r>
            <a:endParaRPr lang="en-US" sz="2200" dirty="0"/>
          </a:p>
        </p:txBody>
      </p:sp>
      <p:sp>
        <p:nvSpPr>
          <p:cNvPr id="14" name="Text 12"/>
          <p:cNvSpPr txBox="1"/>
          <p:nvPr/>
        </p:nvSpPr>
        <p:spPr>
          <a:xfrm>
            <a:off x="6553048" y="2423160"/>
            <a:ext cx="4769968" cy="960120"/>
          </a:xfrm>
          <a:prstGeom prst="rect">
            <a:avLst/>
          </a:prstGeom>
          <a:noFill/>
          <a:ln/>
        </p:spPr>
        <p:txBody>
          <a:bodyPr wrap="square" lIns="0" tIns="0" rIns="0" bIns="0" rtlCol="0" anchor="t"/>
          <a:lstStyle/>
          <a:p>
            <a:pPr marL="0" indent="0">
              <a:buNone/>
            </a:pPr>
            <a:r>
              <a:rPr lang="en-US" sz="1600" dirty="0">
                <a:solidFill>
                  <a:schemeClr val="tx2"/>
                </a:solidFill>
                <a:latin typeface="Arial" pitchFamily="34" charset="0"/>
                <a:ea typeface="Arial" pitchFamily="34" charset="-122"/>
                <a:cs typeface="Arial" pitchFamily="34" charset="-120"/>
              </a:rPr>
              <a:t>docker stop (caída), docker pause (lentitud) y UPDATE directo con psql (dato viejo).</a:t>
            </a:r>
            <a:endParaRPr lang="en-US" sz="1600" dirty="0"/>
          </a:p>
        </p:txBody>
      </p:sp>
      <p:sp>
        <p:nvSpPr>
          <p:cNvPr id="15" name="Shape 13"/>
          <p:cNvSpPr/>
          <p:nvPr/>
        </p:nvSpPr>
        <p:spPr>
          <a:xfrm>
            <a:off x="548640" y="3886200"/>
            <a:ext cx="5410048" cy="2240280"/>
          </a:xfrm>
          <a:prstGeom prst="roundRect">
            <a:avLst>
              <a:gd name="adj" fmla="val 4082"/>
            </a:avLst>
          </a:prstGeom>
          <a:solidFill>
            <a:schemeClr val="bg2"/>
          </a:solidFill>
          <a:ln/>
        </p:spPr>
        <p:txBody>
          <a:bodyPr/>
          <a:lstStyle/>
          <a:p>
            <a:endParaRPr lang="es-ES_tradnl"/>
          </a:p>
        </p:txBody>
      </p:sp>
      <p:sp>
        <p:nvSpPr>
          <p:cNvPr id="16" name="Shape 14"/>
          <p:cNvSpPr/>
          <p:nvPr/>
        </p:nvSpPr>
        <p:spPr>
          <a:xfrm>
            <a:off x="868680" y="4206240"/>
            <a:ext cx="457200" cy="457200"/>
          </a:xfrm>
          <a:prstGeom prst="ellipse">
            <a:avLst/>
          </a:prstGeom>
          <a:solidFill>
            <a:schemeClr val="accent3"/>
          </a:solidFill>
          <a:ln/>
        </p:spPr>
        <p:txBody>
          <a:bodyPr/>
          <a:lstStyle/>
          <a:p>
            <a:endParaRPr lang="es-ES_tradnl"/>
          </a:p>
        </p:txBody>
      </p:sp>
      <p:sp>
        <p:nvSpPr>
          <p:cNvPr id="17" name="Text 15"/>
          <p:cNvSpPr txBox="1"/>
          <p:nvPr/>
        </p:nvSpPr>
        <p:spPr>
          <a:xfrm>
            <a:off x="868680" y="42062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508760" y="4233672"/>
            <a:ext cx="4129888" cy="41148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Estado inicial controlado</a:t>
            </a:r>
            <a:endParaRPr lang="en-US" sz="2200" dirty="0"/>
          </a:p>
        </p:txBody>
      </p:sp>
      <p:sp>
        <p:nvSpPr>
          <p:cNvPr id="19" name="Text 17"/>
          <p:cNvSpPr txBox="1"/>
          <p:nvPr/>
        </p:nvSpPr>
        <p:spPr>
          <a:xfrm>
            <a:off x="868680" y="4937760"/>
            <a:ext cx="4769968" cy="960120"/>
          </a:xfrm>
          <a:prstGeom prst="rect">
            <a:avLst/>
          </a:prstGeom>
          <a:noFill/>
          <a:ln/>
        </p:spPr>
        <p:txBody>
          <a:bodyPr wrap="square" lIns="0" tIns="0" rIns="0" bIns="0" rtlCol="0" anchor="t"/>
          <a:lstStyle/>
          <a:p>
            <a:pPr marL="0" indent="0">
              <a:buNone/>
            </a:pPr>
            <a:r>
              <a:rPr lang="en-US" sz="1600" dirty="0">
                <a:solidFill>
                  <a:schemeClr val="tx2"/>
                </a:solidFill>
                <a:latin typeface="Arial" pitchFamily="34" charset="0"/>
                <a:ea typeface="Arial" pitchFamily="34" charset="-122"/>
                <a:cs typeface="Arial" pitchFamily="34" charset="-120"/>
              </a:rPr>
              <a:t>Antes y después de cada caso: FLUSHDB en Redis y los 4 productos semilla en la BD.</a:t>
            </a:r>
            <a:endParaRPr lang="en-US" sz="1600" dirty="0"/>
          </a:p>
        </p:txBody>
      </p:sp>
      <p:sp>
        <p:nvSpPr>
          <p:cNvPr id="20" name="Shape 18"/>
          <p:cNvSpPr/>
          <p:nvPr/>
        </p:nvSpPr>
        <p:spPr>
          <a:xfrm>
            <a:off x="6233008" y="3886200"/>
            <a:ext cx="5410048" cy="2240280"/>
          </a:xfrm>
          <a:prstGeom prst="roundRect">
            <a:avLst>
              <a:gd name="adj" fmla="val 4082"/>
            </a:avLst>
          </a:prstGeom>
          <a:solidFill>
            <a:schemeClr val="bg2"/>
          </a:solidFill>
          <a:ln/>
        </p:spPr>
        <p:txBody>
          <a:bodyPr/>
          <a:lstStyle/>
          <a:p>
            <a:endParaRPr lang="es-ES_tradnl"/>
          </a:p>
        </p:txBody>
      </p:sp>
      <p:sp>
        <p:nvSpPr>
          <p:cNvPr id="21" name="Shape 19"/>
          <p:cNvSpPr/>
          <p:nvPr/>
        </p:nvSpPr>
        <p:spPr>
          <a:xfrm>
            <a:off x="6553048" y="4206240"/>
            <a:ext cx="457200" cy="457200"/>
          </a:xfrm>
          <a:prstGeom prst="ellipse">
            <a:avLst/>
          </a:prstGeom>
          <a:solidFill>
            <a:schemeClr val="accent3"/>
          </a:solidFill>
          <a:ln/>
        </p:spPr>
        <p:txBody>
          <a:bodyPr/>
          <a:lstStyle/>
          <a:p>
            <a:endParaRPr lang="es-ES_tradnl"/>
          </a:p>
        </p:txBody>
      </p:sp>
      <p:sp>
        <p:nvSpPr>
          <p:cNvPr id="22" name="Text 20"/>
          <p:cNvSpPr txBox="1"/>
          <p:nvPr/>
        </p:nvSpPr>
        <p:spPr>
          <a:xfrm>
            <a:off x="6553048" y="42062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7193128" y="4233672"/>
            <a:ext cx="4129888" cy="41148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Criterio de aprobación</a:t>
            </a:r>
            <a:endParaRPr lang="en-US" sz="2200" dirty="0"/>
          </a:p>
        </p:txBody>
      </p:sp>
      <p:sp>
        <p:nvSpPr>
          <p:cNvPr id="24" name="Text 22"/>
          <p:cNvSpPr txBox="1"/>
          <p:nvPr/>
        </p:nvSpPr>
        <p:spPr>
          <a:xfrm>
            <a:off x="6553048" y="4937760"/>
            <a:ext cx="4769968" cy="960120"/>
          </a:xfrm>
          <a:prstGeom prst="rect">
            <a:avLst/>
          </a:prstGeom>
          <a:noFill/>
          <a:ln/>
        </p:spPr>
        <p:txBody>
          <a:bodyPr wrap="square" lIns="0" tIns="0" rIns="0" bIns="0" rtlCol="0" anchor="t"/>
          <a:lstStyle/>
          <a:p>
            <a:pPr marL="0" indent="0">
              <a:buNone/>
            </a:pPr>
            <a:r>
              <a:rPr lang="en-US" sz="1600" dirty="0">
                <a:solidFill>
                  <a:schemeClr val="tx2"/>
                </a:solidFill>
                <a:latin typeface="Arial" pitchFamily="34" charset="0"/>
                <a:ea typeface="Arial" pitchFamily="34" charset="-122"/>
                <a:cs typeface="Arial" pitchFamily="34" charset="-120"/>
              </a:rPr>
              <a:t>Cada aserción coincide con lo esperado y queda evidencia. BYPASS en menos de 1 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685800"/>
          </a:xfrm>
          <a:prstGeom prst="rect">
            <a:avLst/>
          </a:prstGeom>
          <a:noFill/>
          <a:ln/>
        </p:spPr>
        <p:txBody>
          <a:bodyPr wrap="square" lIns="0" tIns="0" rIns="0" bIns="0" rtlCol="0" anchor="ctr"/>
          <a:lstStyle/>
          <a:p>
            <a:pPr marL="0" indent="0" algn="l">
              <a:buNone/>
            </a:pPr>
            <a:r>
              <a:rPr lang="en-US" sz="3600" b="1" dirty="0">
                <a:solidFill>
                  <a:schemeClr val="tx1"/>
                </a:solidFill>
              </a:rPr>
              <a:t>Puntos de integración</a:t>
            </a:r>
            <a:endParaRPr lang="en-US" sz="3600" dirty="0"/>
          </a:p>
        </p:txBody>
      </p:sp>
      <p:sp>
        <p:nvSpPr>
          <p:cNvPr id="3" name="Text 0"/>
          <p:cNvSpPr>
            <a:spLocks noGrp="1"/>
          </p:cNvSpPr>
          <p:nvPr>
            <p:ph type="body" idx="101" hasCustomPrompt="1"/>
          </p:nvPr>
        </p:nvSpPr>
        <p:spPr>
          <a:xfrm>
            <a:off x="548640" y="6355080"/>
            <a:ext cx="6858000" cy="274320"/>
          </a:xfrm>
          <a:prstGeom prst="rect">
            <a:avLst/>
          </a:prstGeom>
          <a:noFill/>
          <a:ln/>
        </p:spPr>
        <p:txBody>
          <a:bodyPr wrap="square" lIns="0" tIns="0" rIns="0" bIns="0" rtlCol="0" anchor="ctr"/>
          <a:lstStyle/>
          <a:p>
            <a:pPr marL="0" indent="0">
              <a:buNone/>
            </a:pPr>
            <a:r>
              <a:rPr lang="en-US" sz="1100" dirty="0">
                <a:solidFill>
                  <a:schemeClr val="accent4"/>
                </a:solidFill>
              </a:rPr>
              <a:t>B · Estrategia y casos</a:t>
            </a:r>
            <a:endParaRPr lang="en-US" sz="1100" dirty="0"/>
          </a:p>
        </p:txBody>
      </p:sp>
      <p:sp>
        <p:nvSpPr>
          <p:cNvPr id="4" name="Text 0"/>
          <p:cNvSpPr>
            <a:spLocks noGrp="1"/>
          </p:cNvSpPr>
          <p:nvPr>
            <p:ph type="body" idx="102" hasCustomPrompt="1"/>
          </p:nvPr>
        </p:nvSpPr>
        <p:spPr>
          <a:xfrm>
            <a:off x="7589520" y="6355080"/>
            <a:ext cx="4053535" cy="274320"/>
          </a:xfrm>
          <a:prstGeom prst="rect">
            <a:avLst/>
          </a:prstGeom>
          <a:noFill/>
          <a:ln/>
        </p:spPr>
        <p:txBody>
          <a:bodyPr wrap="square" lIns="0" tIns="0" rIns="0" bIns="0" rtlCol="0" anchor="ctr"/>
          <a:lstStyle/>
          <a:p>
            <a:pPr marL="0" indent="0" algn="r">
              <a:buNone/>
            </a:pPr>
            <a:r>
              <a:rPr lang="en-US" sz="1100" dirty="0">
                <a:solidFill>
                  <a:schemeClr val="accent4"/>
                </a:solidFill>
              </a:rPr>
              <a:t>docs/estrategia.md, sección 4</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2871216"/>
        </p:xfrm>
        <a:graphic>
          <a:graphicData uri="http://schemas.openxmlformats.org/drawingml/2006/table">
            <a:tbl>
              <a:tblPr/>
              <a:tblGrid>
                <a:gridCol w="82296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3459175">
                  <a:extLst>
                    <a:ext uri="{9D8B030D-6E8A-4147-A177-3AD203B41FA5}">
                      <a16:colId xmlns:a16="http://schemas.microsoft.com/office/drawing/2014/main" val="20003"/>
                    </a:ext>
                  </a:extLst>
                </a:gridCol>
              </a:tblGrid>
              <a:tr h="566928">
                <a:tc>
                  <a:txBody>
                    <a:bodyPr/>
                    <a:lstStyle/>
                    <a:p>
                      <a:pPr marL="0" indent="0">
                        <a:buNone/>
                      </a:pPr>
                      <a:r>
                        <a:rPr lang="en-US" sz="1600" b="1" dirty="0">
                          <a:solidFill>
                            <a:schemeClr val="bg1"/>
                          </a:solidFill>
                          <a:latin typeface="Arial" pitchFamily="34" charset="0"/>
                          <a:ea typeface="Arial" pitchFamily="34" charset="-122"/>
                          <a:cs typeface="Arial" pitchFamily="34" charset="-120"/>
                        </a:rPr>
                        <a:t>ID</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latin typeface="Arial" pitchFamily="34" charset="0"/>
                          <a:ea typeface="Arial" pitchFamily="34" charset="-122"/>
                          <a:cs typeface="Arial" pitchFamily="34" charset="-120"/>
                        </a:rPr>
                        <a:t>Entre</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latin typeface="Arial" pitchFamily="34" charset="0"/>
                          <a:ea typeface="Arial" pitchFamily="34" charset="-122"/>
                          <a:cs typeface="Arial" pitchFamily="34" charset="-120"/>
                        </a:rPr>
                        <a:t>Qué se valida</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latin typeface="Arial" pitchFamily="34" charset="0"/>
                          <a:ea typeface="Arial" pitchFamily="34" charset="-122"/>
                          <a:cs typeface="Arial" pitchFamily="34" charset="-120"/>
                        </a:rPr>
                        <a:t>Cómo se observa</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66928">
                <a:tc>
                  <a:txBody>
                    <a:bodyPr/>
                    <a:lstStyle/>
                    <a:p>
                      <a:pPr marL="0" indent="0">
                        <a:buNone/>
                      </a:pPr>
                      <a:r>
                        <a:rPr lang="en-US" sz="1600" dirty="0">
                          <a:solidFill>
                            <a:schemeClr val="tx1"/>
                          </a:solidFill>
                          <a:latin typeface="Arial" pitchFamily="34" charset="0"/>
                          <a:ea typeface="Arial" pitchFamily="34" charset="-122"/>
                          <a:cs typeface="Arial" pitchFamily="34" charset="-120"/>
                        </a:rPr>
                        <a:t>PI-1</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API ↔ Redis</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GET, SET con TTL y DEL de producto:{id}; un fallo no llega a la API</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X-Cache y redis-inspeccionar.sh</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6928">
                <a:tc>
                  <a:txBody>
                    <a:bodyPr/>
                    <a:lstStyle/>
                    <a:p>
                      <a:pPr marL="0" indent="0">
                        <a:buNone/>
                      </a:pPr>
                      <a:r>
                        <a:rPr lang="en-US" sz="1600" dirty="0">
                          <a:solidFill>
                            <a:schemeClr val="tx1"/>
                          </a:solidFill>
                          <a:latin typeface="Arial" pitchFamily="34" charset="0"/>
                          <a:ea typeface="Arial" pitchFamily="34" charset="-122"/>
                          <a:cs typeface="Arial" pitchFamily="34" charset="-120"/>
                        </a:rPr>
                        <a:t>PI-2</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API ↔ PostgreSQL</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Consultas parametrizadas y tipo NUMERIC normalizado</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Respuesta HTTP y psql</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66928">
                <a:tc>
                  <a:txBody>
                    <a:bodyPr/>
                    <a:lstStyle/>
                    <a:p>
                      <a:pPr marL="0" indent="0">
                        <a:buNone/>
                      </a:pPr>
                      <a:r>
                        <a:rPr lang="en-US" sz="1600" dirty="0">
                          <a:solidFill>
                            <a:schemeClr val="tx1"/>
                          </a:solidFill>
                          <a:latin typeface="Arial" pitchFamily="34" charset="0"/>
                          <a:ea typeface="Arial" pitchFamily="34" charset="-122"/>
                          <a:cs typeface="Arial" pitchFamily="34" charset="-120"/>
                        </a:rPr>
                        <a:t>PI-3</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Cliente ↔ API</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Rutas, códigos 200/201/400/404 y X-Cache</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Supertest</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66928">
                <a:tc>
                  <a:txBody>
                    <a:bodyPr/>
                    <a:lstStyle/>
                    <a:p>
                      <a:pPr marL="0" indent="0">
                        <a:buNone/>
                      </a:pPr>
                      <a:r>
                        <a:rPr lang="en-US" sz="1600" dirty="0">
                          <a:solidFill>
                            <a:schemeClr val="tx1"/>
                          </a:solidFill>
                          <a:latin typeface="Arial" pitchFamily="34" charset="0"/>
                          <a:ea typeface="Arial" pitchFamily="34" charset="-122"/>
                          <a:cs typeface="Arial" pitchFamily="34" charset="-120"/>
                        </a:rPr>
                        <a:t>PI-4</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Redis ↔ PostgreSQL</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La caché no sirve un dato distinto al de la BD, o el TTL lo acota</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Respuesta de la API comparada con psql</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6" name="Shape 3"/>
          <p:cNvSpPr/>
          <p:nvPr/>
        </p:nvSpPr>
        <p:spPr>
          <a:xfrm>
            <a:off x="548640" y="4709160"/>
            <a:ext cx="11094415" cy="868680"/>
          </a:xfrm>
          <a:prstGeom prst="roundRect">
            <a:avLst>
              <a:gd name="adj" fmla="val 10526"/>
            </a:avLst>
          </a:prstGeom>
          <a:solidFill>
            <a:schemeClr val="bg2"/>
          </a:solidFill>
          <a:ln/>
        </p:spPr>
        <p:txBody>
          <a:bodyPr/>
          <a:lstStyle/>
          <a:p>
            <a:endParaRPr lang="es-ES_tradnl"/>
          </a:p>
        </p:txBody>
      </p:sp>
      <p:sp>
        <p:nvSpPr>
          <p:cNvPr id="7" name="Text 4"/>
          <p:cNvSpPr txBox="1"/>
          <p:nvPr/>
        </p:nvSpPr>
        <p:spPr>
          <a:xfrm>
            <a:off x="868680" y="4709160"/>
            <a:ext cx="10454335" cy="868680"/>
          </a:xfrm>
          <a:prstGeom prst="rect">
            <a:avLst/>
          </a:prstGeom>
          <a:noFill/>
          <a:ln/>
        </p:spPr>
        <p:txBody>
          <a:bodyPr wrap="square" lIns="0" tIns="0" rIns="0" bIns="0" rtlCol="0" anchor="ctr"/>
          <a:lstStyle/>
          <a:p>
            <a:pPr marL="0" indent="0">
              <a:buNone/>
            </a:pPr>
            <a:r>
              <a:rPr lang="en-US" sz="1600" dirty="0">
                <a:solidFill>
                  <a:schemeClr val="tx2"/>
                </a:solidFill>
                <a:latin typeface="Arial" pitchFamily="34" charset="0"/>
                <a:ea typeface="Arial" pitchFamily="34" charset="-122"/>
                <a:cs typeface="Arial" pitchFamily="34" charset="-120"/>
              </a:rPr>
              <a:t>PI-4 no es una conexión directa: es una propiedad del sistema que se verifica a través de la API.</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685800"/>
          </a:xfrm>
          <a:prstGeom prst="rect">
            <a:avLst/>
          </a:prstGeom>
          <a:noFill/>
          <a:ln/>
        </p:spPr>
        <p:txBody>
          <a:bodyPr wrap="square" lIns="0" tIns="0" rIns="0" bIns="0" rtlCol="0" anchor="ctr"/>
          <a:lstStyle/>
          <a:p>
            <a:pPr marL="0" indent="0" algn="l">
              <a:buNone/>
            </a:pPr>
            <a:r>
              <a:rPr lang="en-US" sz="3600" b="1" dirty="0">
                <a:solidFill>
                  <a:schemeClr val="tx1"/>
                </a:solidFill>
              </a:rPr>
              <a:t>Riesgos y cómo se mitigan</a:t>
            </a:r>
            <a:endParaRPr lang="en-US" sz="3600" dirty="0"/>
          </a:p>
        </p:txBody>
      </p:sp>
      <p:sp>
        <p:nvSpPr>
          <p:cNvPr id="3" name="Text 0"/>
          <p:cNvSpPr>
            <a:spLocks noGrp="1"/>
          </p:cNvSpPr>
          <p:nvPr>
            <p:ph type="body" idx="101" hasCustomPrompt="1"/>
          </p:nvPr>
        </p:nvSpPr>
        <p:spPr>
          <a:xfrm>
            <a:off x="548640" y="6355080"/>
            <a:ext cx="6858000" cy="274320"/>
          </a:xfrm>
          <a:prstGeom prst="rect">
            <a:avLst/>
          </a:prstGeom>
          <a:noFill/>
          <a:ln/>
        </p:spPr>
        <p:txBody>
          <a:bodyPr wrap="square" lIns="0" tIns="0" rIns="0" bIns="0" rtlCol="0" anchor="ctr"/>
          <a:lstStyle/>
          <a:p>
            <a:pPr marL="0" indent="0">
              <a:buNone/>
            </a:pPr>
            <a:r>
              <a:rPr lang="en-US" sz="1100" dirty="0">
                <a:solidFill>
                  <a:schemeClr val="accent4"/>
                </a:solidFill>
              </a:rPr>
              <a:t>B · Estrategia y casos</a:t>
            </a:r>
            <a:endParaRPr lang="en-US" sz="1100" dirty="0"/>
          </a:p>
        </p:txBody>
      </p:sp>
      <p:sp>
        <p:nvSpPr>
          <p:cNvPr id="4" name="Text 0"/>
          <p:cNvSpPr>
            <a:spLocks noGrp="1"/>
          </p:cNvSpPr>
          <p:nvPr>
            <p:ph type="body" idx="102" hasCustomPrompt="1"/>
          </p:nvPr>
        </p:nvSpPr>
        <p:spPr>
          <a:xfrm>
            <a:off x="7589520" y="6355080"/>
            <a:ext cx="4053535" cy="274320"/>
          </a:xfrm>
          <a:prstGeom prst="rect">
            <a:avLst/>
          </a:prstGeom>
          <a:noFill/>
          <a:ln/>
        </p:spPr>
        <p:txBody>
          <a:bodyPr wrap="square" lIns="0" tIns="0" rIns="0" bIns="0" rtlCol="0" anchor="ctr"/>
          <a:lstStyle/>
          <a:p>
            <a:pPr marL="0" indent="0" algn="r">
              <a:buNone/>
            </a:pPr>
            <a:r>
              <a:rPr lang="en-US" sz="1100" dirty="0">
                <a:solidFill>
                  <a:schemeClr val="accent4"/>
                </a:solidFill>
              </a:rPr>
              <a:t>docs/estrategia.md, sección 5</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4389120"/>
        </p:xfrm>
        <a:graphic>
          <a:graphicData uri="http://schemas.openxmlformats.org/drawingml/2006/table">
            <a:tbl>
              <a:tblPr/>
              <a:tblGrid>
                <a:gridCol w="7315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gridCol w="1676095">
                  <a:extLst>
                    <a:ext uri="{9D8B030D-6E8A-4147-A177-3AD203B41FA5}">
                      <a16:colId xmlns:a16="http://schemas.microsoft.com/office/drawing/2014/main" val="20003"/>
                    </a:ext>
                  </a:extLst>
                </a:gridCol>
              </a:tblGrid>
              <a:tr h="548640">
                <a:tc>
                  <a:txBody>
                    <a:bodyPr/>
                    <a:lstStyle/>
                    <a:p>
                      <a:pPr marL="0" indent="0">
                        <a:buNone/>
                      </a:pPr>
                      <a:r>
                        <a:rPr lang="en-US" sz="1600" b="1" dirty="0">
                          <a:solidFill>
                            <a:schemeClr val="bg1"/>
                          </a:solidFill>
                          <a:latin typeface="Arial" pitchFamily="34" charset="0"/>
                          <a:ea typeface="Arial" pitchFamily="34" charset="-122"/>
                          <a:cs typeface="Arial" pitchFamily="34" charset="-120"/>
                        </a:rPr>
                        <a:t>ID</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latin typeface="Arial" pitchFamily="34" charset="0"/>
                          <a:ea typeface="Arial" pitchFamily="34" charset="-122"/>
                          <a:cs typeface="Arial" pitchFamily="34" charset="-120"/>
                        </a:rPr>
                        <a:t>Riesgo</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latin typeface="Arial" pitchFamily="34" charset="0"/>
                          <a:ea typeface="Arial" pitchFamily="34" charset="-122"/>
                          <a:cs typeface="Arial" pitchFamily="34" charset="-120"/>
                        </a:rPr>
                        <a:t>Mitigación</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latin typeface="Arial" pitchFamily="34" charset="0"/>
                          <a:ea typeface="Arial" pitchFamily="34" charset="-122"/>
                          <a:cs typeface="Arial" pitchFamily="34" charset="-120"/>
                        </a:rPr>
                        <a:t>Casos</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48640">
                <a:tc>
                  <a:txBody>
                    <a:bodyPr/>
                    <a:lstStyle/>
                    <a:p>
                      <a:pPr marL="0" indent="0">
                        <a:buNone/>
                      </a:pPr>
                      <a:r>
                        <a:rPr lang="en-US" sz="1600" dirty="0">
                          <a:solidFill>
                            <a:schemeClr val="tx1"/>
                          </a:solidFill>
                          <a:latin typeface="Arial" pitchFamily="34" charset="0"/>
                          <a:ea typeface="Arial" pitchFamily="34" charset="-122"/>
                          <a:cs typeface="Arial" pitchFamily="34" charset="-120"/>
                        </a:rPr>
                        <a:t>R1</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Dato no invalidado tras un PUT</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DEL de la llave tras escribir en la BD</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CP-02</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48640">
                <a:tc>
                  <a:txBody>
                    <a:bodyPr/>
                    <a:lstStyle/>
                    <a:p>
                      <a:pPr marL="0" indent="0">
                        <a:buNone/>
                      </a:pPr>
                      <a:r>
                        <a:rPr lang="en-US" sz="1600" dirty="0">
                          <a:solidFill>
                            <a:schemeClr val="tx1"/>
                          </a:solidFill>
                          <a:latin typeface="Arial" pitchFamily="34" charset="0"/>
                          <a:ea typeface="Arial" pitchFamily="34" charset="-122"/>
                          <a:cs typeface="Arial" pitchFamily="34" charset="-120"/>
                        </a:rPr>
                        <a:t>R2</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Dato viejo por escritura externa</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TTL de 60 s en todas las llaves</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CP-06</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48640">
                <a:tc>
                  <a:txBody>
                    <a:bodyPr/>
                    <a:lstStyle/>
                    <a:p>
                      <a:pPr marL="0" indent="0">
                        <a:buNone/>
                      </a:pPr>
                      <a:r>
                        <a:rPr lang="en-US" sz="1600" dirty="0">
                          <a:solidFill>
                            <a:schemeClr val="tx1"/>
                          </a:solidFill>
                          <a:latin typeface="Arial" pitchFamily="34" charset="0"/>
                          <a:ea typeface="Arial" pitchFamily="34" charset="-122"/>
                          <a:cs typeface="Arial" pitchFamily="34" charset="-120"/>
                        </a:rPr>
                        <a:t>R3</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Redis caído o lento bloquea la API</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Sin cola offline + timeout de 500 ms</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CP-05, CP-08</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48640">
                <a:tc>
                  <a:txBody>
                    <a:bodyPr/>
                    <a:lstStyle/>
                    <a:p>
                      <a:pPr marL="0" indent="0">
                        <a:buNone/>
                      </a:pPr>
                      <a:r>
                        <a:rPr lang="en-US" sz="1600" dirty="0">
                          <a:solidFill>
                            <a:schemeClr val="tx1"/>
                          </a:solidFill>
                          <a:latin typeface="Arial" pitchFamily="34" charset="0"/>
                          <a:ea typeface="Arial" pitchFamily="34" charset="-122"/>
                          <a:cs typeface="Arial" pitchFamily="34" charset="-120"/>
                        </a:rPr>
                        <a:t>R4</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Se cachean errores o datos inválidos</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Solo se cachea un producto leído de la BD</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CP-03, CP-04</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48640">
                <a:tc>
                  <a:txBody>
                    <a:bodyPr/>
                    <a:lstStyle/>
                    <a:p>
                      <a:pPr marL="0" indent="0">
                        <a:buNone/>
                      </a:pPr>
                      <a:r>
                        <a:rPr lang="en-US" sz="1600" dirty="0">
                          <a:solidFill>
                            <a:schemeClr val="tx1"/>
                          </a:solidFill>
                          <a:latin typeface="Arial" pitchFamily="34" charset="0"/>
                          <a:ea typeface="Arial" pitchFamily="34" charset="-122"/>
                          <a:cs typeface="Arial" pitchFamily="34" charset="-120"/>
                        </a:rPr>
                        <a:t>R5</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HIT ≠ MISS por NUMERIC como string</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normalizar() antes de cachear y responder</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CP-01</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48640">
                <a:tc>
                  <a:txBody>
                    <a:bodyPr/>
                    <a:lstStyle/>
                    <a:p>
                      <a:pPr marL="0" indent="0">
                        <a:buNone/>
                      </a:pPr>
                      <a:r>
                        <a:rPr lang="en-US" sz="1600" dirty="0">
                          <a:solidFill>
                            <a:schemeClr val="tx1"/>
                          </a:solidFill>
                          <a:latin typeface="Arial" pitchFamily="34" charset="0"/>
                          <a:ea typeface="Arial" pitchFamily="34" charset="-122"/>
                          <a:cs typeface="Arial" pitchFamily="34" charset="-120"/>
                        </a:rPr>
                        <a:t>R6</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Llaves sin TTL que nunca expiran</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SET con EX en la misma operación</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CP-06</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548640">
                <a:tc>
                  <a:txBody>
                    <a:bodyPr/>
                    <a:lstStyle/>
                    <a:p>
                      <a:pPr marL="0" indent="0">
                        <a:buNone/>
                      </a:pPr>
                      <a:r>
                        <a:rPr lang="en-US" sz="1600" dirty="0">
                          <a:solidFill>
                            <a:schemeClr val="tx1"/>
                          </a:solidFill>
                          <a:latin typeface="Arial" pitchFamily="34" charset="0"/>
                          <a:ea typeface="Arial" pitchFamily="34" charset="-122"/>
                          <a:cs typeface="Arial" pitchFamily="34" charset="-120"/>
                        </a:rPr>
                        <a:t>R7</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JSON corrupto en la caché</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Se trata como MISS y se borra la llave</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Arial" pitchFamily="34" charset="0"/>
                          <a:ea typeface="Arial" pitchFamily="34" charset="-122"/>
                          <a:cs typeface="Arial" pitchFamily="34" charset="-120"/>
                        </a:rPr>
                        <a:t>Sin caso</a:t>
                      </a:r>
                      <a:endParaRPr lang="en-US" sz="16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685800"/>
          </a:xfrm>
          <a:prstGeom prst="rect">
            <a:avLst/>
          </a:prstGeom>
          <a:noFill/>
          <a:ln/>
        </p:spPr>
        <p:txBody>
          <a:bodyPr wrap="square" lIns="0" tIns="0" rIns="0" bIns="0" rtlCol="0" anchor="ctr"/>
          <a:lstStyle/>
          <a:p>
            <a:pPr marL="0" indent="0" algn="l">
              <a:buNone/>
            </a:pPr>
            <a:r>
              <a:rPr lang="en-US" sz="3600" b="1" dirty="0">
                <a:solidFill>
                  <a:schemeClr val="tx1"/>
                </a:solidFill>
              </a:rPr>
              <a:t>8 casos de prueba, 6 automatizados</a:t>
            </a:r>
            <a:endParaRPr lang="en-US" sz="3600" dirty="0"/>
          </a:p>
        </p:txBody>
      </p:sp>
      <p:sp>
        <p:nvSpPr>
          <p:cNvPr id="3" name="Text 0"/>
          <p:cNvSpPr>
            <a:spLocks noGrp="1"/>
          </p:cNvSpPr>
          <p:nvPr>
            <p:ph type="body" idx="101" hasCustomPrompt="1"/>
          </p:nvPr>
        </p:nvSpPr>
        <p:spPr>
          <a:xfrm>
            <a:off x="548640" y="6355080"/>
            <a:ext cx="6858000" cy="274320"/>
          </a:xfrm>
          <a:prstGeom prst="rect">
            <a:avLst/>
          </a:prstGeom>
          <a:noFill/>
          <a:ln/>
        </p:spPr>
        <p:txBody>
          <a:bodyPr wrap="square" lIns="0" tIns="0" rIns="0" bIns="0" rtlCol="0" anchor="ctr"/>
          <a:lstStyle/>
          <a:p>
            <a:pPr marL="0" indent="0">
              <a:buNone/>
            </a:pPr>
            <a:r>
              <a:rPr lang="en-US" sz="1100" dirty="0">
                <a:solidFill>
                  <a:schemeClr val="accent4"/>
                </a:solidFill>
              </a:rPr>
              <a:t>B · Estrategia y casos</a:t>
            </a:r>
            <a:endParaRPr lang="en-US" sz="1100" dirty="0"/>
          </a:p>
        </p:txBody>
      </p:sp>
      <p:sp>
        <p:nvSpPr>
          <p:cNvPr id="4" name="Text 0"/>
          <p:cNvSpPr>
            <a:spLocks noGrp="1"/>
          </p:cNvSpPr>
          <p:nvPr>
            <p:ph type="body" idx="102" hasCustomPrompt="1"/>
          </p:nvPr>
        </p:nvSpPr>
        <p:spPr>
          <a:xfrm>
            <a:off x="7589520" y="6355080"/>
            <a:ext cx="4053535" cy="274320"/>
          </a:xfrm>
          <a:prstGeom prst="rect">
            <a:avLst/>
          </a:prstGeom>
          <a:noFill/>
          <a:ln/>
        </p:spPr>
        <p:txBody>
          <a:bodyPr wrap="square" lIns="0" tIns="0" rIns="0" bIns="0" rtlCol="0" anchor="ctr"/>
          <a:lstStyle/>
          <a:p>
            <a:pPr marL="0" indent="0" algn="r">
              <a:buNone/>
            </a:pPr>
            <a:r>
              <a:rPr lang="en-US" sz="1100" dirty="0">
                <a:solidFill>
                  <a:schemeClr val="accent4"/>
                </a:solidFill>
              </a:rPr>
              <a:t>docs/matriz-casos.xlsx</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114800"/>
        </p:xfrm>
        <a:graphic>
          <a:graphicData uri="http://schemas.openxmlformats.org/drawingml/2006/table">
            <a:tbl>
              <a:tblPr/>
              <a:tblGrid>
                <a:gridCol w="9144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084832">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457200">
                <a:tc>
                  <a:txBody>
                    <a:bodyPr/>
                    <a:lstStyle/>
                    <a:p>
                      <a:pPr marL="0" indent="0">
                        <a:buNone/>
                      </a:pPr>
                      <a:r>
                        <a:rPr lang="en-US" sz="1400" b="1" dirty="0">
                          <a:solidFill>
                            <a:schemeClr val="bg1"/>
                          </a:solidFill>
                          <a:latin typeface="Arial" pitchFamily="34" charset="0"/>
                          <a:ea typeface="Arial" pitchFamily="34" charset="-122"/>
                          <a:cs typeface="Arial" pitchFamily="34" charset="-120"/>
                        </a:rPr>
                        <a:t>ID</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Arial" pitchFamily="34" charset="0"/>
                          <a:ea typeface="Arial" pitchFamily="34" charset="-122"/>
                          <a:cs typeface="Arial" pitchFamily="34" charset="-120"/>
                        </a:rPr>
                        <a:t>Escenario</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Arial" pitchFamily="34" charset="0"/>
                          <a:ea typeface="Arial" pitchFamily="34" charset="-122"/>
                          <a:cs typeface="Arial" pitchFamily="34" charset="-120"/>
                        </a:rPr>
                        <a:t>Tipo</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Arial" pitchFamily="34" charset="0"/>
                          <a:ea typeface="Arial" pitchFamily="34" charset="-122"/>
                          <a:cs typeface="Arial" pitchFamily="34" charset="-120"/>
                        </a:rPr>
                        <a:t>Categoría</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Arial" pitchFamily="34" charset="0"/>
                          <a:ea typeface="Arial" pitchFamily="34" charset="-122"/>
                          <a:cs typeface="Arial" pitchFamily="34" charset="-120"/>
                        </a:rPr>
                        <a:t>Ejecución</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CP-01</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BE6D4"/>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Primera lectura MISS, segunda HIT, mismo JSON</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BE6D4"/>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Integración</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BE6D4"/>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Exitoso</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BE6D4"/>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Jest</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BE6D4"/>
                    </a:solidFill>
                  </a:tcPr>
                </a:tc>
                <a:extLst>
                  <a:ext uri="{0D108BD9-81ED-4DB2-BD59-A6C34878D82A}">
                    <a16:rowId xmlns:a16="http://schemas.microsoft.com/office/drawing/2014/main" val="10001"/>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CP-02</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PUT invalida la llave; el GET trae el valor nuevo</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Integración</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Exitoso</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Jest</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CP-03</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BE6D4"/>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POST y PUT inválidos → 400; caché y BD sin cambios</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BE6D4"/>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Integración</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BE6D4"/>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Validación</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BE6D4"/>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Jest</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BE6D4"/>
                    </a:solidFill>
                  </a:tcPr>
                </a:tc>
                <a:extLst>
                  <a:ext uri="{0D108BD9-81ED-4DB2-BD59-A6C34878D82A}">
                    <a16:rowId xmlns:a16="http://schemas.microsoft.com/office/drawing/2014/main" val="10003"/>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CP-04</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Producto inexistente → 404 y no se cachea</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Integración</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Error funcional</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Jest</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CP-05</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BE6D4"/>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Redis detenido → 200 BYPASS en menos de 1 s</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BE6D4"/>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Integración</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BE6D4"/>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Falla técnica</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BE6D4"/>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Jest</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BE6D4"/>
                    </a:solidFill>
                  </a:tcPr>
                </a:tc>
                <a:extLst>
                  <a:ext uri="{0D108BD9-81ED-4DB2-BD59-A6C34878D82A}">
                    <a16:rowId xmlns:a16="http://schemas.microsoft.com/office/drawing/2014/main" val="10005"/>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CP-06</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Escritura directa en la BD: dato viejo hasta el TTL</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Integración</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Falla de integración</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Script</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CP-07</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Crear → consultar → actualizar → consultar</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Sistema</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Exitoso</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Jest</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CP-08</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Redis vuelve: la caché se reconstruye, MISS y luego HIT</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Sistema</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Falla técnica</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Script</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6" name="Text 3"/>
          <p:cNvSpPr txBox="1"/>
          <p:nvPr/>
        </p:nvSpPr>
        <p:spPr>
          <a:xfrm>
            <a:off x="548640" y="5760720"/>
            <a:ext cx="11094415" cy="320040"/>
          </a:xfrm>
          <a:prstGeom prst="rect">
            <a:avLst/>
          </a:prstGeom>
          <a:noFill/>
          <a:ln/>
        </p:spPr>
        <p:txBody>
          <a:bodyPr wrap="square" lIns="0" tIns="0" rIns="0" bIns="0" rtlCol="0" anchor="t"/>
          <a:lstStyle/>
          <a:p>
            <a:pPr marL="0" indent="0">
              <a:buNone/>
            </a:pPr>
            <a:r>
              <a:rPr lang="en-US" sz="1300" dirty="0">
                <a:solidFill>
                  <a:schemeClr val="tx2"/>
                </a:solidFill>
                <a:latin typeface="Arial" pitchFamily="34" charset="0"/>
                <a:ea typeface="Arial" pitchFamily="34" charset="-122"/>
                <a:cs typeface="Arial" pitchFamily="34" charset="-120"/>
              </a:rPr>
              <a:t>Resaltados: los tres automatizados que exige la guía (exitoso CP-01, validación CP-03, falla técnica CP-05).</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685800"/>
          </a:xfrm>
          <a:prstGeom prst="rect">
            <a:avLst/>
          </a:prstGeom>
          <a:noFill/>
          <a:ln/>
        </p:spPr>
        <p:txBody>
          <a:bodyPr wrap="square" lIns="0" tIns="0" rIns="0" bIns="0" rtlCol="0" anchor="ctr"/>
          <a:lstStyle/>
          <a:p>
            <a:pPr marL="0" indent="0" algn="l">
              <a:buNone/>
            </a:pPr>
            <a:r>
              <a:rPr lang="en-US" sz="3600" b="1" dirty="0">
                <a:solidFill>
                  <a:schemeClr val="bg1"/>
                </a:solidFill>
              </a:rPr>
              <a:t>Demostración en vivo</a:t>
            </a:r>
            <a:endParaRPr lang="en-US" sz="3600" dirty="0"/>
          </a:p>
        </p:txBody>
      </p:sp>
      <p:sp>
        <p:nvSpPr>
          <p:cNvPr id="3" name="Text 0"/>
          <p:cNvSpPr>
            <a:spLocks noGrp="1"/>
          </p:cNvSpPr>
          <p:nvPr>
            <p:ph type="body" idx="101" hasCustomPrompt="1"/>
          </p:nvPr>
        </p:nvSpPr>
        <p:spPr>
          <a:xfrm>
            <a:off x="548640" y="6355080"/>
            <a:ext cx="6858000" cy="274320"/>
          </a:xfrm>
          <a:prstGeom prst="rect">
            <a:avLst/>
          </a:prstGeom>
          <a:noFill/>
          <a:ln/>
        </p:spPr>
        <p:txBody>
          <a:bodyPr wrap="square" lIns="0" tIns="0" rIns="0" bIns="0" rtlCol="0" anchor="ctr"/>
          <a:lstStyle/>
          <a:p>
            <a:pPr marL="0" indent="0">
              <a:buNone/>
            </a:pPr>
            <a:r>
              <a:rPr lang="en-US" sz="1100" dirty="0">
                <a:solidFill>
                  <a:schemeClr val="accent6"/>
                </a:solidFill>
              </a:rPr>
              <a:t>Demostración · A, B y C · 8 minutos</a:t>
            </a:r>
            <a:endParaRPr lang="en-US" sz="1100" dirty="0"/>
          </a:p>
        </p:txBody>
      </p:sp>
      <p:sp>
        <p:nvSpPr>
          <p:cNvPr id="4" name="Text 0"/>
          <p:cNvSpPr>
            <a:spLocks noGrp="1"/>
          </p:cNvSpPr>
          <p:nvPr>
            <p:ph type="body" idx="102" hasCustomPrompt="1"/>
          </p:nvPr>
        </p:nvSpPr>
        <p:spPr>
          <a:xfrm>
            <a:off x="7589520" y="6355080"/>
            <a:ext cx="4053535" cy="274320"/>
          </a:xfrm>
          <a:prstGeom prst="rect">
            <a:avLst/>
          </a:prstGeom>
          <a:noFill/>
          <a:ln/>
        </p:spPr>
        <p:txBody>
          <a:bodyPr wrap="square" lIns="0" tIns="0" rIns="0" bIns="0" rtlCol="0" anchor="ctr"/>
          <a:lstStyle/>
          <a:p>
            <a:pPr marL="0" indent="0" algn="r">
              <a:buNone/>
            </a:pPr>
            <a:r>
              <a:rPr lang="en-US" sz="1100" dirty="0">
                <a:solidFill>
                  <a:schemeClr val="accent6"/>
                </a:solidFill>
              </a:rPr>
              <a:t>README.md</a:t>
            </a:r>
            <a:endParaRPr lang="en-US" sz="1100" dirty="0"/>
          </a:p>
        </p:txBody>
      </p:sp>
      <p:sp>
        <p:nvSpPr>
          <p:cNvPr id="5" name="Shape 3"/>
          <p:cNvSpPr/>
          <p:nvPr/>
        </p:nvSpPr>
        <p:spPr>
          <a:xfrm>
            <a:off x="548640" y="1417320"/>
            <a:ext cx="3515258" cy="4480560"/>
          </a:xfrm>
          <a:prstGeom prst="roundRect">
            <a:avLst>
              <a:gd name="adj" fmla="val 2601"/>
            </a:avLst>
          </a:prstGeom>
          <a:solidFill>
            <a:schemeClr val="accent5"/>
          </a:solidFill>
          <a:ln/>
        </p:spPr>
        <p:txBody>
          <a:bodyPr/>
          <a:lstStyle/>
          <a:p>
            <a:endParaRPr lang="es-ES_tradnl"/>
          </a:p>
        </p:txBody>
      </p:sp>
      <p:sp>
        <p:nvSpPr>
          <p:cNvPr id="6" name="Text 4"/>
          <p:cNvSpPr txBox="1"/>
          <p:nvPr/>
        </p:nvSpPr>
        <p:spPr>
          <a:xfrm>
            <a:off x="868680" y="1737360"/>
            <a:ext cx="2875178" cy="274320"/>
          </a:xfrm>
          <a:prstGeom prst="rect">
            <a:avLst/>
          </a:prstGeom>
          <a:noFill/>
          <a:ln/>
        </p:spPr>
        <p:txBody>
          <a:bodyPr wrap="square" lIns="0" tIns="0" rIns="0" bIns="0" rtlCol="0" anchor="t"/>
          <a:lstStyle/>
          <a:p>
            <a:pPr marL="0" indent="0">
              <a:buNone/>
            </a:pPr>
            <a:r>
              <a:rPr lang="en-US" sz="1300" dirty="0">
                <a:solidFill>
                  <a:schemeClr val="accent1"/>
                </a:solidFill>
                <a:latin typeface="Courier New" pitchFamily="34" charset="0"/>
                <a:ea typeface="Courier New" pitchFamily="34" charset="-122"/>
                <a:cs typeface="Courier New" pitchFamily="34" charset="-120"/>
              </a:rPr>
              <a:t>A · CP-01 · CP-07</a:t>
            </a:r>
            <a:endParaRPr lang="en-US" sz="1300" dirty="0"/>
          </a:p>
        </p:txBody>
      </p:sp>
      <p:sp>
        <p:nvSpPr>
          <p:cNvPr id="7" name="Text 5"/>
          <p:cNvSpPr txBox="1"/>
          <p:nvPr/>
        </p:nvSpPr>
        <p:spPr>
          <a:xfrm>
            <a:off x="868680" y="2148840"/>
            <a:ext cx="2875178" cy="45720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Flujo exitoso</a:t>
            </a:r>
            <a:endParaRPr lang="en-US" sz="2200" dirty="0"/>
          </a:p>
        </p:txBody>
      </p:sp>
      <p:sp>
        <p:nvSpPr>
          <p:cNvPr id="8" name="Text 6"/>
          <p:cNvSpPr txBox="1"/>
          <p:nvPr/>
        </p:nvSpPr>
        <p:spPr>
          <a:xfrm>
            <a:off x="868680" y="2834640"/>
            <a:ext cx="2875178" cy="2743200"/>
          </a:xfrm>
          <a:prstGeom prst="rect">
            <a:avLst/>
          </a:prstGeom>
          <a:noFill/>
          <a:ln/>
        </p:spPr>
        <p:txBody>
          <a:bodyPr wrap="square" lIns="0" tIns="0" rIns="0" bIns="0" rtlCol="0" anchor="t"/>
          <a:lstStyle/>
          <a:p>
            <a:pPr marL="0" indent="0">
              <a:spcAft>
                <a:spcPts val="1000"/>
              </a:spcAft>
              <a:buNone/>
            </a:pPr>
            <a:r>
              <a:rPr lang="en-US" sz="1400" dirty="0">
                <a:solidFill>
                  <a:schemeClr val="accent6"/>
                </a:solidFill>
                <a:latin typeface="Courier New" pitchFamily="34" charset="0"/>
                <a:ea typeface="Courier New" pitchFamily="34" charset="-122"/>
                <a:cs typeface="Courier New" pitchFamily="34" charset="-120"/>
              </a:rPr>
              <a:t>npm run dev</a:t>
            </a:r>
            <a:endParaRPr lang="en-US" sz="1400" dirty="0"/>
          </a:p>
          <a:p>
            <a:pPr marL="0" indent="0">
              <a:spcAft>
                <a:spcPts val="1000"/>
              </a:spcAft>
              <a:buNone/>
            </a:pPr>
            <a:r>
              <a:rPr lang="en-US" sz="1400" dirty="0">
                <a:solidFill>
                  <a:schemeClr val="accent6"/>
                </a:solidFill>
                <a:latin typeface="Courier New" pitchFamily="34" charset="0"/>
                <a:ea typeface="Courier New" pitchFamily="34" charset="-122"/>
                <a:cs typeface="Courier New" pitchFamily="34" charset="-120"/>
              </a:rPr>
              <a:t>curl -i localhost:3000/productos/1</a:t>
            </a:r>
            <a:endParaRPr lang="en-US" sz="1400" dirty="0"/>
          </a:p>
          <a:p>
            <a:pPr marL="0" indent="0">
              <a:spcAft>
                <a:spcPts val="1000"/>
              </a:spcAft>
              <a:buNone/>
            </a:pPr>
            <a:r>
              <a:rPr lang="en-US" sz="1400" dirty="0">
                <a:solidFill>
                  <a:schemeClr val="accent6"/>
                </a:solidFill>
                <a:latin typeface="Courier New" pitchFamily="34" charset="0"/>
                <a:ea typeface="Courier New" pitchFamily="34" charset="-122"/>
                <a:cs typeface="Courier New" pitchFamily="34" charset="-120"/>
              </a:rPr>
              <a:t>(dos veces: MISS → HIT)</a:t>
            </a:r>
            <a:endParaRPr lang="en-US" sz="1400" dirty="0"/>
          </a:p>
          <a:p>
            <a:pPr marL="0" indent="0">
              <a:spcAft>
                <a:spcPts val="1000"/>
              </a:spcAft>
              <a:buNone/>
            </a:pPr>
            <a:r>
              <a:rPr lang="en-US" sz="1400" dirty="0">
                <a:solidFill>
                  <a:schemeClr val="accent6"/>
                </a:solidFill>
                <a:latin typeface="Courier New" pitchFamily="34" charset="0"/>
                <a:ea typeface="Courier New" pitchFamily="34" charset="-122"/>
                <a:cs typeface="Courier New" pitchFamily="34" charset="-120"/>
              </a:rPr>
              <a:t>POST, PUT y nueva lectura</a:t>
            </a:r>
            <a:endParaRPr lang="en-US" sz="1400" dirty="0"/>
          </a:p>
        </p:txBody>
      </p:sp>
      <p:sp>
        <p:nvSpPr>
          <p:cNvPr id="9" name="Shape 7"/>
          <p:cNvSpPr/>
          <p:nvPr/>
        </p:nvSpPr>
        <p:spPr>
          <a:xfrm>
            <a:off x="4338218" y="1417320"/>
            <a:ext cx="3515258" cy="4480560"/>
          </a:xfrm>
          <a:prstGeom prst="roundRect">
            <a:avLst>
              <a:gd name="adj" fmla="val 2601"/>
            </a:avLst>
          </a:prstGeom>
          <a:solidFill>
            <a:schemeClr val="accent5"/>
          </a:solidFill>
          <a:ln/>
        </p:spPr>
        <p:txBody>
          <a:bodyPr/>
          <a:lstStyle/>
          <a:p>
            <a:endParaRPr lang="es-ES_tradnl"/>
          </a:p>
        </p:txBody>
      </p:sp>
      <p:sp>
        <p:nvSpPr>
          <p:cNvPr id="10" name="Text 8"/>
          <p:cNvSpPr txBox="1"/>
          <p:nvPr/>
        </p:nvSpPr>
        <p:spPr>
          <a:xfrm>
            <a:off x="4658258" y="1737360"/>
            <a:ext cx="2875178" cy="274320"/>
          </a:xfrm>
          <a:prstGeom prst="rect">
            <a:avLst/>
          </a:prstGeom>
          <a:noFill/>
          <a:ln/>
        </p:spPr>
        <p:txBody>
          <a:bodyPr wrap="square" lIns="0" tIns="0" rIns="0" bIns="0" rtlCol="0" anchor="t"/>
          <a:lstStyle/>
          <a:p>
            <a:pPr marL="0" indent="0">
              <a:buNone/>
            </a:pPr>
            <a:r>
              <a:rPr lang="en-US" sz="1300" dirty="0">
                <a:solidFill>
                  <a:schemeClr val="accent1"/>
                </a:solidFill>
                <a:latin typeface="Courier New" pitchFamily="34" charset="0"/>
                <a:ea typeface="Courier New" pitchFamily="34" charset="-122"/>
                <a:cs typeface="Courier New" pitchFamily="34" charset="-120"/>
              </a:rPr>
              <a:t>B · CP-05 · CP-08 · CP-06</a:t>
            </a:r>
            <a:endParaRPr lang="en-US" sz="1300" dirty="0"/>
          </a:p>
        </p:txBody>
      </p:sp>
      <p:sp>
        <p:nvSpPr>
          <p:cNvPr id="11" name="Text 9"/>
          <p:cNvSpPr txBox="1"/>
          <p:nvPr/>
        </p:nvSpPr>
        <p:spPr>
          <a:xfrm>
            <a:off x="4658258" y="2148840"/>
            <a:ext cx="2875178" cy="45720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Caída y recuperación</a:t>
            </a:r>
            <a:endParaRPr lang="en-US" sz="2200" dirty="0"/>
          </a:p>
        </p:txBody>
      </p:sp>
      <p:sp>
        <p:nvSpPr>
          <p:cNvPr id="12" name="Text 10"/>
          <p:cNvSpPr txBox="1"/>
          <p:nvPr/>
        </p:nvSpPr>
        <p:spPr>
          <a:xfrm>
            <a:off x="4658258" y="2834640"/>
            <a:ext cx="2875178" cy="2743200"/>
          </a:xfrm>
          <a:prstGeom prst="rect">
            <a:avLst/>
          </a:prstGeom>
          <a:noFill/>
          <a:ln/>
        </p:spPr>
        <p:txBody>
          <a:bodyPr wrap="square" lIns="0" tIns="0" rIns="0" bIns="0" rtlCol="0" anchor="t"/>
          <a:lstStyle/>
          <a:p>
            <a:pPr marL="0" indent="0">
              <a:spcAft>
                <a:spcPts val="1000"/>
              </a:spcAft>
              <a:buNone/>
            </a:pPr>
            <a:r>
              <a:rPr lang="en-US" sz="1400" dirty="0">
                <a:solidFill>
                  <a:schemeClr val="accent6"/>
                </a:solidFill>
                <a:latin typeface="Courier New" pitchFamily="34" charset="0"/>
                <a:ea typeface="Courier New" pitchFamily="34" charset="-122"/>
                <a:cs typeface="Courier New" pitchFamily="34" charset="-120"/>
              </a:rPr>
              <a:t>npm run escenario:cp-05</a:t>
            </a:r>
            <a:endParaRPr lang="en-US" sz="1400" dirty="0"/>
          </a:p>
          <a:p>
            <a:pPr marL="0" indent="0">
              <a:spcAft>
                <a:spcPts val="1000"/>
              </a:spcAft>
              <a:buNone/>
            </a:pPr>
            <a:r>
              <a:rPr lang="en-US" sz="1400" dirty="0">
                <a:solidFill>
                  <a:schemeClr val="accent6"/>
                </a:solidFill>
                <a:latin typeface="Courier New" pitchFamily="34" charset="0"/>
                <a:ea typeface="Courier New" pitchFamily="34" charset="-122"/>
                <a:cs typeface="Courier New" pitchFamily="34" charset="-120"/>
              </a:rPr>
              <a:t>npm run escenario:cp-08</a:t>
            </a:r>
            <a:endParaRPr lang="en-US" sz="1400" dirty="0"/>
          </a:p>
          <a:p>
            <a:pPr marL="0" indent="0">
              <a:spcAft>
                <a:spcPts val="1000"/>
              </a:spcAft>
              <a:buNone/>
            </a:pPr>
            <a:r>
              <a:rPr lang="en-US" sz="1400" dirty="0">
                <a:solidFill>
                  <a:schemeClr val="accent6"/>
                </a:solidFill>
                <a:latin typeface="Courier New" pitchFamily="34" charset="0"/>
                <a:ea typeface="Courier New" pitchFamily="34" charset="-122"/>
                <a:cs typeface="Courier New" pitchFamily="34" charset="-120"/>
              </a:rPr>
              <a:t>npm run escenario:cp-06</a:t>
            </a:r>
            <a:endParaRPr lang="en-US" sz="1400" dirty="0"/>
          </a:p>
          <a:p>
            <a:pPr marL="0" indent="0">
              <a:spcAft>
                <a:spcPts val="1000"/>
              </a:spcAft>
              <a:buNone/>
            </a:pPr>
            <a:r>
              <a:rPr lang="en-US" sz="1400" dirty="0">
                <a:solidFill>
                  <a:schemeClr val="accent6"/>
                </a:solidFill>
                <a:latin typeface="Courier New" pitchFamily="34" charset="0"/>
                <a:ea typeface="Courier New" pitchFamily="34" charset="-122"/>
                <a:cs typeface="Courier New" pitchFamily="34" charset="-120"/>
              </a:rPr>
              <a:t>(CP-06 dura unos 60 s)</a:t>
            </a:r>
            <a:endParaRPr lang="en-US" sz="1400" dirty="0"/>
          </a:p>
        </p:txBody>
      </p:sp>
      <p:sp>
        <p:nvSpPr>
          <p:cNvPr id="13" name="Shape 11"/>
          <p:cNvSpPr/>
          <p:nvPr/>
        </p:nvSpPr>
        <p:spPr>
          <a:xfrm>
            <a:off x="8127797" y="1417320"/>
            <a:ext cx="3515258" cy="4480560"/>
          </a:xfrm>
          <a:prstGeom prst="roundRect">
            <a:avLst>
              <a:gd name="adj" fmla="val 2601"/>
            </a:avLst>
          </a:prstGeom>
          <a:solidFill>
            <a:schemeClr val="accent5"/>
          </a:solidFill>
          <a:ln/>
        </p:spPr>
        <p:txBody>
          <a:bodyPr/>
          <a:lstStyle/>
          <a:p>
            <a:endParaRPr lang="es-ES_tradnl"/>
          </a:p>
        </p:txBody>
      </p:sp>
      <p:sp>
        <p:nvSpPr>
          <p:cNvPr id="14" name="Text 12"/>
          <p:cNvSpPr txBox="1"/>
          <p:nvPr/>
        </p:nvSpPr>
        <p:spPr>
          <a:xfrm>
            <a:off x="8447837" y="1737360"/>
            <a:ext cx="2875178" cy="274320"/>
          </a:xfrm>
          <a:prstGeom prst="rect">
            <a:avLst/>
          </a:prstGeom>
          <a:noFill/>
          <a:ln/>
        </p:spPr>
        <p:txBody>
          <a:bodyPr wrap="square" lIns="0" tIns="0" rIns="0" bIns="0" rtlCol="0" anchor="t"/>
          <a:lstStyle/>
          <a:p>
            <a:pPr marL="0" indent="0">
              <a:buNone/>
            </a:pPr>
            <a:r>
              <a:rPr lang="en-US" sz="1300" dirty="0">
                <a:solidFill>
                  <a:schemeClr val="accent1"/>
                </a:solidFill>
                <a:latin typeface="Courier New" pitchFamily="34" charset="0"/>
                <a:ea typeface="Courier New" pitchFamily="34" charset="-122"/>
                <a:cs typeface="Courier New" pitchFamily="34" charset="-120"/>
              </a:rPr>
              <a:t>C · los 6 casos Jest</a:t>
            </a:r>
            <a:endParaRPr lang="en-US" sz="1300" dirty="0"/>
          </a:p>
        </p:txBody>
      </p:sp>
      <p:sp>
        <p:nvSpPr>
          <p:cNvPr id="15" name="Text 13"/>
          <p:cNvSpPr txBox="1"/>
          <p:nvPr/>
        </p:nvSpPr>
        <p:spPr>
          <a:xfrm>
            <a:off x="8447837" y="2148840"/>
            <a:ext cx="2875178" cy="45720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Suite y reporte</a:t>
            </a:r>
            <a:endParaRPr lang="en-US" sz="2200" dirty="0"/>
          </a:p>
        </p:txBody>
      </p:sp>
      <p:sp>
        <p:nvSpPr>
          <p:cNvPr id="16" name="Text 14"/>
          <p:cNvSpPr txBox="1"/>
          <p:nvPr/>
        </p:nvSpPr>
        <p:spPr>
          <a:xfrm>
            <a:off x="8447837" y="2834640"/>
            <a:ext cx="2875178" cy="2743200"/>
          </a:xfrm>
          <a:prstGeom prst="rect">
            <a:avLst/>
          </a:prstGeom>
          <a:noFill/>
          <a:ln/>
        </p:spPr>
        <p:txBody>
          <a:bodyPr wrap="square" lIns="0" tIns="0" rIns="0" bIns="0" rtlCol="0" anchor="t"/>
          <a:lstStyle/>
          <a:p>
            <a:pPr marL="0" indent="0">
              <a:spcAft>
                <a:spcPts val="1000"/>
              </a:spcAft>
              <a:buNone/>
            </a:pPr>
            <a:r>
              <a:rPr lang="en-US" sz="1400" dirty="0">
                <a:solidFill>
                  <a:schemeClr val="accent6"/>
                </a:solidFill>
                <a:latin typeface="Courier New" pitchFamily="34" charset="0"/>
                <a:ea typeface="Courier New" pitchFamily="34" charset="-122"/>
                <a:cs typeface="Courier New" pitchFamily="34" charset="-120"/>
              </a:rPr>
              <a:t>npm test</a:t>
            </a:r>
            <a:endParaRPr lang="en-US" sz="1400" dirty="0"/>
          </a:p>
          <a:p>
            <a:pPr marL="0" indent="0">
              <a:spcAft>
                <a:spcPts val="1000"/>
              </a:spcAft>
              <a:buNone/>
            </a:pPr>
            <a:r>
              <a:rPr lang="en-US" sz="1400" dirty="0">
                <a:solidFill>
                  <a:schemeClr val="accent6"/>
                </a:solidFill>
                <a:latin typeface="Courier New" pitchFamily="34" charset="0"/>
                <a:ea typeface="Courier New" pitchFamily="34" charset="-122"/>
                <a:cs typeface="Courier New" pitchFamily="34" charset="-120"/>
              </a:rPr>
              <a:t>docs/evidencias/</a:t>
            </a:r>
            <a:endParaRPr lang="en-US" sz="1400" dirty="0"/>
          </a:p>
          <a:p>
            <a:pPr marL="0" indent="0">
              <a:spcAft>
                <a:spcPts val="1000"/>
              </a:spcAft>
              <a:buNone/>
            </a:pPr>
            <a:r>
              <a:rPr lang="en-US" sz="1400" dirty="0">
                <a:solidFill>
                  <a:schemeClr val="accent6"/>
                </a:solidFill>
                <a:latin typeface="Courier New" pitchFamily="34" charset="0"/>
                <a:ea typeface="Courier New" pitchFamily="34" charset="-122"/>
                <a:cs typeface="Courier New" pitchFamily="34" charset="-120"/>
              </a:rPr>
              <a:t>reporte-jest.json</a:t>
            </a:r>
            <a:endParaRPr lang="en-US" sz="1400" dirty="0"/>
          </a:p>
          <a:p>
            <a:pPr marL="0" indent="0">
              <a:spcAft>
                <a:spcPts val="1000"/>
              </a:spcAft>
              <a:buNone/>
            </a:pPr>
            <a:r>
              <a:rPr lang="en-US" sz="1400" dirty="0">
                <a:solidFill>
                  <a:schemeClr val="accent6"/>
                </a:solidFill>
                <a:latin typeface="Courier New" pitchFamily="34" charset="0"/>
                <a:ea typeface="Courier New" pitchFamily="34" charset="-122"/>
                <a:cs typeface="Courier New" pitchFamily="34" charset="-120"/>
              </a:rPr>
              <a:t>CP-XX_*.txt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685800"/>
          </a:xfrm>
          <a:prstGeom prst="rect">
            <a:avLst/>
          </a:prstGeom>
          <a:noFill/>
          <a:ln/>
        </p:spPr>
        <p:txBody>
          <a:bodyPr wrap="square" lIns="0" tIns="0" rIns="0" bIns="0" rtlCol="0" anchor="ctr"/>
          <a:lstStyle/>
          <a:p>
            <a:pPr marL="0" indent="0" algn="l">
              <a:buNone/>
            </a:pPr>
            <a:r>
              <a:rPr lang="en-US" sz="3600" b="1" dirty="0">
                <a:solidFill>
                  <a:schemeClr val="tx1"/>
                </a:solidFill>
              </a:rPr>
              <a:t>Resultados: los 8 casos aprobados</a:t>
            </a:r>
            <a:endParaRPr lang="en-US" sz="3600" dirty="0"/>
          </a:p>
        </p:txBody>
      </p:sp>
      <p:sp>
        <p:nvSpPr>
          <p:cNvPr id="3" name="Text 0"/>
          <p:cNvSpPr>
            <a:spLocks noGrp="1"/>
          </p:cNvSpPr>
          <p:nvPr>
            <p:ph type="body" idx="101" hasCustomPrompt="1"/>
          </p:nvPr>
        </p:nvSpPr>
        <p:spPr>
          <a:xfrm>
            <a:off x="548640" y="6355080"/>
            <a:ext cx="6858000" cy="274320"/>
          </a:xfrm>
          <a:prstGeom prst="rect">
            <a:avLst/>
          </a:prstGeom>
          <a:noFill/>
          <a:ln/>
        </p:spPr>
        <p:txBody>
          <a:bodyPr wrap="square" lIns="0" tIns="0" rIns="0" bIns="0" rtlCol="0" anchor="ctr"/>
          <a:lstStyle/>
          <a:p>
            <a:pPr marL="0" indent="0">
              <a:buNone/>
            </a:pPr>
            <a:r>
              <a:rPr lang="en-US" sz="1100" dirty="0">
                <a:solidFill>
                  <a:schemeClr val="accent4"/>
                </a:solidFill>
              </a:rPr>
              <a:t>C · Resultados y conclusiones</a:t>
            </a:r>
            <a:endParaRPr lang="en-US" sz="1100" dirty="0"/>
          </a:p>
        </p:txBody>
      </p:sp>
      <p:sp>
        <p:nvSpPr>
          <p:cNvPr id="4" name="Text 0"/>
          <p:cNvSpPr>
            <a:spLocks noGrp="1"/>
          </p:cNvSpPr>
          <p:nvPr>
            <p:ph type="body" idx="102" hasCustomPrompt="1"/>
          </p:nvPr>
        </p:nvSpPr>
        <p:spPr>
          <a:xfrm>
            <a:off x="7589520" y="6355080"/>
            <a:ext cx="4053535" cy="274320"/>
          </a:xfrm>
          <a:prstGeom prst="rect">
            <a:avLst/>
          </a:prstGeom>
          <a:noFill/>
          <a:ln/>
        </p:spPr>
        <p:txBody>
          <a:bodyPr wrap="square" lIns="0" tIns="0" rIns="0" bIns="0" rtlCol="0" anchor="ctr"/>
          <a:lstStyle/>
          <a:p>
            <a:pPr marL="0" indent="0" algn="r">
              <a:buNone/>
            </a:pPr>
            <a:r>
              <a:rPr lang="en-US" sz="1100" dirty="0">
                <a:solidFill>
                  <a:schemeClr val="accent4"/>
                </a:solidFill>
              </a:rPr>
              <a:t>docs/evidencias · docs/estrategia.md §11</a:t>
            </a:r>
            <a:endParaRPr lang="en-US" sz="1100" dirty="0"/>
          </a:p>
        </p:txBody>
      </p:sp>
      <p:sp>
        <p:nvSpPr>
          <p:cNvPr id="5" name="Shape 3"/>
          <p:cNvSpPr/>
          <p:nvPr/>
        </p:nvSpPr>
        <p:spPr>
          <a:xfrm>
            <a:off x="548640" y="1325880"/>
            <a:ext cx="2567864" cy="1325880"/>
          </a:xfrm>
          <a:prstGeom prst="roundRect">
            <a:avLst>
              <a:gd name="adj" fmla="val 6897"/>
            </a:avLst>
          </a:prstGeom>
          <a:solidFill>
            <a:schemeClr val="bg2"/>
          </a:solidFill>
          <a:ln/>
        </p:spPr>
        <p:txBody>
          <a:bodyPr/>
          <a:lstStyle/>
          <a:p>
            <a:endParaRPr lang="es-ES_tradnl"/>
          </a:p>
        </p:txBody>
      </p:sp>
      <p:sp>
        <p:nvSpPr>
          <p:cNvPr id="6" name="Text 4"/>
          <p:cNvSpPr txBox="1"/>
          <p:nvPr/>
        </p:nvSpPr>
        <p:spPr>
          <a:xfrm>
            <a:off x="822960" y="1417320"/>
            <a:ext cx="2019224" cy="731520"/>
          </a:xfrm>
          <a:prstGeom prst="rect">
            <a:avLst/>
          </a:prstGeom>
          <a:noFill/>
          <a:ln/>
        </p:spPr>
        <p:txBody>
          <a:bodyPr wrap="square" lIns="0" tIns="0" rIns="0" bIns="0" rtlCol="0" anchor="ctr"/>
          <a:lstStyle/>
          <a:p>
            <a:pPr marL="0" indent="0">
              <a:buNone/>
            </a:pPr>
            <a:r>
              <a:rPr lang="en-US" sz="4000" b="1" dirty="0">
                <a:solidFill>
                  <a:schemeClr val="tx1"/>
                </a:solidFill>
                <a:latin typeface="Arial" pitchFamily="34" charset="0"/>
                <a:ea typeface="Arial" pitchFamily="34" charset="-122"/>
                <a:cs typeface="Arial" pitchFamily="34" charset="-120"/>
              </a:rPr>
              <a:t>8 / 8</a:t>
            </a:r>
            <a:endParaRPr lang="en-US" sz="4000" dirty="0"/>
          </a:p>
        </p:txBody>
      </p:sp>
      <p:sp>
        <p:nvSpPr>
          <p:cNvPr id="7" name="Text 5"/>
          <p:cNvSpPr txBox="1"/>
          <p:nvPr/>
        </p:nvSpPr>
        <p:spPr>
          <a:xfrm>
            <a:off x="822960" y="2176272"/>
            <a:ext cx="2019224" cy="320040"/>
          </a:xfrm>
          <a:prstGeom prst="rect">
            <a:avLst/>
          </a:prstGeom>
          <a:noFill/>
          <a:ln/>
        </p:spPr>
        <p:txBody>
          <a:bodyPr wrap="square" lIns="0" tIns="0" rIns="0" bIns="0" rtlCol="0" anchor="t"/>
          <a:lstStyle/>
          <a:p>
            <a:pPr marL="0" indent="0">
              <a:buNone/>
            </a:pPr>
            <a:r>
              <a:rPr lang="en-US" sz="1300" dirty="0">
                <a:solidFill>
                  <a:schemeClr val="accent4"/>
                </a:solidFill>
                <a:latin typeface="Arial" pitchFamily="34" charset="0"/>
                <a:ea typeface="Arial" pitchFamily="34" charset="-122"/>
                <a:cs typeface="Arial" pitchFamily="34" charset="-120"/>
              </a:rPr>
              <a:t>casos aprobados</a:t>
            </a:r>
            <a:endParaRPr lang="en-US" sz="1300" dirty="0"/>
          </a:p>
        </p:txBody>
      </p:sp>
      <p:sp>
        <p:nvSpPr>
          <p:cNvPr id="8" name="Shape 6"/>
          <p:cNvSpPr/>
          <p:nvPr/>
        </p:nvSpPr>
        <p:spPr>
          <a:xfrm>
            <a:off x="3390824" y="1325880"/>
            <a:ext cx="2567864" cy="1325880"/>
          </a:xfrm>
          <a:prstGeom prst="roundRect">
            <a:avLst>
              <a:gd name="adj" fmla="val 6897"/>
            </a:avLst>
          </a:prstGeom>
          <a:solidFill>
            <a:schemeClr val="bg2"/>
          </a:solidFill>
          <a:ln/>
        </p:spPr>
        <p:txBody>
          <a:bodyPr/>
          <a:lstStyle/>
          <a:p>
            <a:endParaRPr lang="es-ES_tradnl"/>
          </a:p>
        </p:txBody>
      </p:sp>
      <p:sp>
        <p:nvSpPr>
          <p:cNvPr id="9" name="Text 7"/>
          <p:cNvSpPr txBox="1"/>
          <p:nvPr/>
        </p:nvSpPr>
        <p:spPr>
          <a:xfrm>
            <a:off x="3665144" y="1417320"/>
            <a:ext cx="2019224" cy="731520"/>
          </a:xfrm>
          <a:prstGeom prst="rect">
            <a:avLst/>
          </a:prstGeom>
          <a:noFill/>
          <a:ln/>
        </p:spPr>
        <p:txBody>
          <a:bodyPr wrap="square" lIns="0" tIns="0" rIns="0" bIns="0" rtlCol="0" anchor="ctr"/>
          <a:lstStyle/>
          <a:p>
            <a:pPr marL="0" indent="0">
              <a:buNone/>
            </a:pPr>
            <a:r>
              <a:rPr lang="en-US" sz="4000" b="1" dirty="0">
                <a:solidFill>
                  <a:schemeClr val="tx1"/>
                </a:solidFill>
                <a:latin typeface="Arial" pitchFamily="34" charset="0"/>
                <a:ea typeface="Arial" pitchFamily="34" charset="-122"/>
                <a:cs typeface="Arial" pitchFamily="34" charset="-120"/>
              </a:rPr>
              <a:t>6 / 6</a:t>
            </a:r>
            <a:endParaRPr lang="en-US" sz="4000" dirty="0"/>
          </a:p>
        </p:txBody>
      </p:sp>
      <p:sp>
        <p:nvSpPr>
          <p:cNvPr id="10" name="Text 8"/>
          <p:cNvSpPr txBox="1"/>
          <p:nvPr/>
        </p:nvSpPr>
        <p:spPr>
          <a:xfrm>
            <a:off x="3665144" y="2176272"/>
            <a:ext cx="2019224" cy="320040"/>
          </a:xfrm>
          <a:prstGeom prst="rect">
            <a:avLst/>
          </a:prstGeom>
          <a:noFill/>
          <a:ln/>
        </p:spPr>
        <p:txBody>
          <a:bodyPr wrap="square" lIns="0" tIns="0" rIns="0" bIns="0" rtlCol="0" anchor="t"/>
          <a:lstStyle/>
          <a:p>
            <a:pPr marL="0" indent="0">
              <a:buNone/>
            </a:pPr>
            <a:r>
              <a:rPr lang="en-US" sz="1300" dirty="0">
                <a:solidFill>
                  <a:schemeClr val="accent4"/>
                </a:solidFill>
                <a:latin typeface="Arial" pitchFamily="34" charset="0"/>
                <a:ea typeface="Arial" pitchFamily="34" charset="-122"/>
                <a:cs typeface="Arial" pitchFamily="34" charset="-120"/>
              </a:rPr>
              <a:t>pruebas Jest aprobadas</a:t>
            </a:r>
            <a:endParaRPr lang="en-US" sz="1300" dirty="0"/>
          </a:p>
        </p:txBody>
      </p:sp>
      <p:sp>
        <p:nvSpPr>
          <p:cNvPr id="11" name="Shape 9"/>
          <p:cNvSpPr/>
          <p:nvPr/>
        </p:nvSpPr>
        <p:spPr>
          <a:xfrm>
            <a:off x="6233008" y="1325880"/>
            <a:ext cx="2567864" cy="1325880"/>
          </a:xfrm>
          <a:prstGeom prst="roundRect">
            <a:avLst>
              <a:gd name="adj" fmla="val 6897"/>
            </a:avLst>
          </a:prstGeom>
          <a:solidFill>
            <a:schemeClr val="bg2"/>
          </a:solidFill>
          <a:ln/>
        </p:spPr>
        <p:txBody>
          <a:bodyPr/>
          <a:lstStyle/>
          <a:p>
            <a:endParaRPr lang="es-ES_tradnl"/>
          </a:p>
        </p:txBody>
      </p:sp>
      <p:sp>
        <p:nvSpPr>
          <p:cNvPr id="12" name="Text 10"/>
          <p:cNvSpPr txBox="1"/>
          <p:nvPr/>
        </p:nvSpPr>
        <p:spPr>
          <a:xfrm>
            <a:off x="6507328" y="1417320"/>
            <a:ext cx="2019224" cy="731520"/>
          </a:xfrm>
          <a:prstGeom prst="rect">
            <a:avLst/>
          </a:prstGeom>
          <a:noFill/>
          <a:ln/>
        </p:spPr>
        <p:txBody>
          <a:bodyPr wrap="square" lIns="0" tIns="0" rIns="0" bIns="0" rtlCol="0" anchor="ctr"/>
          <a:lstStyle/>
          <a:p>
            <a:pPr marL="0" indent="0">
              <a:buNone/>
            </a:pPr>
            <a:r>
              <a:rPr lang="en-US" sz="4000" b="1" dirty="0">
                <a:solidFill>
                  <a:schemeClr val="tx1"/>
                </a:solidFill>
                <a:latin typeface="Arial" pitchFamily="34" charset="0"/>
                <a:ea typeface="Arial" pitchFamily="34" charset="-122"/>
                <a:cs typeface="Arial" pitchFamily="34" charset="-120"/>
              </a:rPr>
              <a:t>3 / 3</a:t>
            </a:r>
            <a:endParaRPr lang="en-US" sz="4000" dirty="0"/>
          </a:p>
        </p:txBody>
      </p:sp>
      <p:sp>
        <p:nvSpPr>
          <p:cNvPr id="13" name="Text 11"/>
          <p:cNvSpPr txBox="1"/>
          <p:nvPr/>
        </p:nvSpPr>
        <p:spPr>
          <a:xfrm>
            <a:off x="6507328" y="2176272"/>
            <a:ext cx="2019224" cy="320040"/>
          </a:xfrm>
          <a:prstGeom prst="rect">
            <a:avLst/>
          </a:prstGeom>
          <a:noFill/>
          <a:ln/>
        </p:spPr>
        <p:txBody>
          <a:bodyPr wrap="square" lIns="0" tIns="0" rIns="0" bIns="0" rtlCol="0" anchor="t"/>
          <a:lstStyle/>
          <a:p>
            <a:pPr marL="0" indent="0">
              <a:buNone/>
            </a:pPr>
            <a:r>
              <a:rPr lang="en-US" sz="1300" dirty="0">
                <a:solidFill>
                  <a:schemeClr val="accent4"/>
                </a:solidFill>
                <a:latin typeface="Arial" pitchFamily="34" charset="0"/>
                <a:ea typeface="Arial" pitchFamily="34" charset="-122"/>
                <a:cs typeface="Arial" pitchFamily="34" charset="-120"/>
              </a:rPr>
              <a:t>suites aprobadas</a:t>
            </a:r>
            <a:endParaRPr lang="en-US" sz="1300" dirty="0"/>
          </a:p>
        </p:txBody>
      </p:sp>
      <p:sp>
        <p:nvSpPr>
          <p:cNvPr id="14" name="Shape 12"/>
          <p:cNvSpPr/>
          <p:nvPr/>
        </p:nvSpPr>
        <p:spPr>
          <a:xfrm>
            <a:off x="9075191" y="1325880"/>
            <a:ext cx="2567864" cy="1325880"/>
          </a:xfrm>
          <a:prstGeom prst="roundRect">
            <a:avLst>
              <a:gd name="adj" fmla="val 6897"/>
            </a:avLst>
          </a:prstGeom>
          <a:solidFill>
            <a:schemeClr val="bg2"/>
          </a:solidFill>
          <a:ln/>
        </p:spPr>
        <p:txBody>
          <a:bodyPr/>
          <a:lstStyle/>
          <a:p>
            <a:endParaRPr lang="es-ES_tradnl"/>
          </a:p>
        </p:txBody>
      </p:sp>
      <p:sp>
        <p:nvSpPr>
          <p:cNvPr id="15" name="Text 13"/>
          <p:cNvSpPr txBox="1"/>
          <p:nvPr/>
        </p:nvSpPr>
        <p:spPr>
          <a:xfrm>
            <a:off x="9349511" y="1417320"/>
            <a:ext cx="2019224" cy="731520"/>
          </a:xfrm>
          <a:prstGeom prst="rect">
            <a:avLst/>
          </a:prstGeom>
          <a:noFill/>
          <a:ln/>
        </p:spPr>
        <p:txBody>
          <a:bodyPr wrap="square" lIns="0" tIns="0" rIns="0" bIns="0" rtlCol="0" anchor="ctr"/>
          <a:lstStyle/>
          <a:p>
            <a:pPr marL="0" indent="0">
              <a:buNone/>
            </a:pPr>
            <a:r>
              <a:rPr lang="en-US" sz="4000" b="1" dirty="0">
                <a:solidFill>
                  <a:schemeClr val="tx1"/>
                </a:solidFill>
                <a:latin typeface="Arial" pitchFamily="34" charset="0"/>
                <a:ea typeface="Arial" pitchFamily="34" charset="-122"/>
                <a:cs typeface="Arial" pitchFamily="34" charset="-120"/>
              </a:rPr>
              <a:t>2</a:t>
            </a:r>
            <a:endParaRPr lang="en-US" sz="4000" dirty="0"/>
          </a:p>
        </p:txBody>
      </p:sp>
      <p:sp>
        <p:nvSpPr>
          <p:cNvPr id="16" name="Text 14"/>
          <p:cNvSpPr txBox="1"/>
          <p:nvPr/>
        </p:nvSpPr>
        <p:spPr>
          <a:xfrm>
            <a:off x="9349511" y="2176272"/>
            <a:ext cx="2019224" cy="320040"/>
          </a:xfrm>
          <a:prstGeom prst="rect">
            <a:avLst/>
          </a:prstGeom>
          <a:noFill/>
          <a:ln/>
        </p:spPr>
        <p:txBody>
          <a:bodyPr wrap="square" lIns="0" tIns="0" rIns="0" bIns="0" rtlCol="0" anchor="t"/>
          <a:lstStyle/>
          <a:p>
            <a:pPr marL="0" indent="0">
              <a:buNone/>
            </a:pPr>
            <a:r>
              <a:rPr lang="en-US" sz="1300" dirty="0">
                <a:solidFill>
                  <a:schemeClr val="accent4"/>
                </a:solidFill>
                <a:latin typeface="Arial" pitchFamily="34" charset="0"/>
                <a:ea typeface="Arial" pitchFamily="34" charset="-122"/>
                <a:cs typeface="Arial" pitchFamily="34" charset="-120"/>
              </a:rPr>
              <a:t>escenarios por script</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11094415" cy="2514600"/>
        </p:xfrm>
        <a:graphic>
          <a:graphicData uri="http://schemas.openxmlformats.org/drawingml/2006/table">
            <a:tbl>
              <a:tblPr/>
              <a:tblGrid>
                <a:gridCol w="10058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5882335">
                  <a:extLst>
                    <a:ext uri="{9D8B030D-6E8A-4147-A177-3AD203B41FA5}">
                      <a16:colId xmlns:a16="http://schemas.microsoft.com/office/drawing/2014/main" val="20002"/>
                    </a:ext>
                  </a:extLst>
                </a:gridCol>
              </a:tblGrid>
              <a:tr h="502920">
                <a:tc>
                  <a:txBody>
                    <a:bodyPr/>
                    <a:lstStyle/>
                    <a:p>
                      <a:pPr marL="0" indent="0">
                        <a:buNone/>
                      </a:pPr>
                      <a:r>
                        <a:rPr lang="en-US" sz="1400" b="1" dirty="0">
                          <a:solidFill>
                            <a:schemeClr val="bg1"/>
                          </a:solidFill>
                          <a:latin typeface="Arial" pitchFamily="34" charset="0"/>
                          <a:ea typeface="Arial" pitchFamily="34" charset="-122"/>
                          <a:cs typeface="Arial" pitchFamily="34" charset="-120"/>
                        </a:rPr>
                        <a:t>Caso</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Arial" pitchFamily="34" charset="0"/>
                          <a:ea typeface="Arial" pitchFamily="34" charset="-122"/>
                          <a:cs typeface="Arial" pitchFamily="34" charset="-120"/>
                        </a:rPr>
                        <a:t>Esperado</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Arial" pitchFamily="34" charset="0"/>
                          <a:ea typeface="Arial" pitchFamily="34" charset="-122"/>
                          <a:cs typeface="Arial" pitchFamily="34" charset="-120"/>
                        </a:rPr>
                        <a:t>Obtenido</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chemeClr val="tx1"/>
                          </a:solidFill>
                          <a:latin typeface="Arial" pitchFamily="34" charset="0"/>
                          <a:ea typeface="Arial" pitchFamily="34" charset="-122"/>
                          <a:cs typeface="Arial" pitchFamily="34" charset="-120"/>
                        </a:rPr>
                        <a:t>CP-01</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MISS → HIT, mismo JSON, TTL mayor que 0</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200 MISS → 200 HIT; JSON idéntico; TTL 60 s</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02920">
                <a:tc>
                  <a:txBody>
                    <a:bodyPr/>
                    <a:lstStyle/>
                    <a:p>
                      <a:pPr marL="0" indent="0">
                        <a:buNone/>
                      </a:pPr>
                      <a:r>
                        <a:rPr lang="en-US" sz="1400" dirty="0">
                          <a:solidFill>
                            <a:schemeClr val="tx1"/>
                          </a:solidFill>
                          <a:latin typeface="Arial" pitchFamily="34" charset="0"/>
                          <a:ea typeface="Arial" pitchFamily="34" charset="-122"/>
                          <a:cs typeface="Arial" pitchFamily="34" charset="-120"/>
                        </a:rPr>
                        <a:t>CP-03</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POST y PUT inválidos → 400, sin cambios</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400 y 400; la caché sigue en HIT; 4 filas en la BD</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02920">
                <a:tc>
                  <a:txBody>
                    <a:bodyPr/>
                    <a:lstStyle/>
                    <a:p>
                      <a:pPr marL="0" indent="0">
                        <a:buNone/>
                      </a:pPr>
                      <a:r>
                        <a:rPr lang="en-US" sz="1400" dirty="0">
                          <a:solidFill>
                            <a:schemeClr val="tx1"/>
                          </a:solidFill>
                          <a:latin typeface="Arial" pitchFamily="34" charset="0"/>
                          <a:ea typeface="Arial" pitchFamily="34" charset="-122"/>
                          <a:cs typeface="Arial" pitchFamily="34" charset="-120"/>
                        </a:rPr>
                        <a:t>CP-05</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200 BYPASS en menos de 1 s</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200 BYPASS en 12.05 ms; Redis restaurado</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2920">
                <a:tc>
                  <a:txBody>
                    <a:bodyPr/>
                    <a:lstStyle/>
                    <a:p>
                      <a:pPr marL="0" indent="0">
                        <a:buNone/>
                      </a:pPr>
                      <a:r>
                        <a:rPr lang="en-US" sz="1400" dirty="0">
                          <a:solidFill>
                            <a:schemeClr val="tx1"/>
                          </a:solidFill>
                          <a:latin typeface="Arial" pitchFamily="34" charset="0"/>
                          <a:ea typeface="Arial" pitchFamily="34" charset="-122"/>
                          <a:cs typeface="Arial" pitchFamily="34" charset="-120"/>
                        </a:rPr>
                        <a:t>CP-06</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Dato viejo hasta el TTL, luego MISS</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HIT = 99000 con BD = 104000; al vencer el TTL, MISS = 104000</a:t>
                      </a:r>
                      <a:endParaRPr lang="en-US" sz="14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685800"/>
          </a:xfrm>
          <a:prstGeom prst="rect">
            <a:avLst/>
          </a:prstGeom>
          <a:noFill/>
          <a:ln/>
        </p:spPr>
        <p:txBody>
          <a:bodyPr wrap="square" lIns="0" tIns="0" rIns="0" bIns="0" rtlCol="0" anchor="ctr"/>
          <a:lstStyle/>
          <a:p>
            <a:pPr marL="0" indent="0" algn="l">
              <a:buNone/>
            </a:pPr>
            <a:r>
              <a:rPr lang="en-US" sz="3600" b="1" dirty="0">
                <a:solidFill>
                  <a:schemeClr val="tx1"/>
                </a:solidFill>
              </a:rPr>
              <a:t>Tiempos observados según el origen</a:t>
            </a:r>
            <a:endParaRPr lang="en-US" sz="3600" dirty="0"/>
          </a:p>
        </p:txBody>
      </p:sp>
      <p:sp>
        <p:nvSpPr>
          <p:cNvPr id="3" name="Text 0"/>
          <p:cNvSpPr>
            <a:spLocks noGrp="1"/>
          </p:cNvSpPr>
          <p:nvPr>
            <p:ph type="body" idx="101" hasCustomPrompt="1"/>
          </p:nvPr>
        </p:nvSpPr>
        <p:spPr>
          <a:xfrm>
            <a:off x="548640" y="6355080"/>
            <a:ext cx="6858000" cy="274320"/>
          </a:xfrm>
          <a:prstGeom prst="rect">
            <a:avLst/>
          </a:prstGeom>
          <a:noFill/>
          <a:ln/>
        </p:spPr>
        <p:txBody>
          <a:bodyPr wrap="square" lIns="0" tIns="0" rIns="0" bIns="0" rtlCol="0" anchor="ctr"/>
          <a:lstStyle/>
          <a:p>
            <a:pPr marL="0" indent="0">
              <a:buNone/>
            </a:pPr>
            <a:r>
              <a:rPr lang="en-US" sz="1100" dirty="0">
                <a:solidFill>
                  <a:schemeClr val="accent4"/>
                </a:solidFill>
              </a:rPr>
              <a:t>C · Resultados y conclusiones</a:t>
            </a:r>
            <a:endParaRPr lang="en-US" sz="1100" dirty="0"/>
          </a:p>
        </p:txBody>
      </p:sp>
      <p:sp>
        <p:nvSpPr>
          <p:cNvPr id="4" name="Text 0"/>
          <p:cNvSpPr>
            <a:spLocks noGrp="1"/>
          </p:cNvSpPr>
          <p:nvPr>
            <p:ph type="body" idx="102" hasCustomPrompt="1"/>
          </p:nvPr>
        </p:nvSpPr>
        <p:spPr>
          <a:xfrm>
            <a:off x="7589520" y="6355080"/>
            <a:ext cx="4053535" cy="274320"/>
          </a:xfrm>
          <a:prstGeom prst="rect">
            <a:avLst/>
          </a:prstGeom>
          <a:noFill/>
          <a:ln/>
        </p:spPr>
        <p:txBody>
          <a:bodyPr wrap="square" lIns="0" tIns="0" rIns="0" bIns="0" rtlCol="0" anchor="ctr"/>
          <a:lstStyle/>
          <a:p>
            <a:pPr marL="0" indent="0" algn="r">
              <a:buNone/>
            </a:pPr>
            <a:r>
              <a:rPr lang="en-US" sz="1100" dirty="0">
                <a:solidFill>
                  <a:schemeClr val="accent4"/>
                </a:solidFill>
              </a:rPr>
              <a:t>Logs de la API en los escenarios</a:t>
            </a:r>
            <a:endParaRPr lang="en-US" sz="1100" dirty="0"/>
          </a:p>
        </p:txBody>
      </p:sp>
      <p:sp>
        <p:nvSpPr>
          <p:cNvPr id="5" name="Shape 3"/>
          <p:cNvSpPr/>
          <p:nvPr/>
        </p:nvSpPr>
        <p:spPr>
          <a:xfrm>
            <a:off x="548640" y="1417320"/>
            <a:ext cx="3515258" cy="2651760"/>
          </a:xfrm>
          <a:prstGeom prst="roundRect">
            <a:avLst>
              <a:gd name="adj" fmla="val 3448"/>
            </a:avLst>
          </a:prstGeom>
          <a:solidFill>
            <a:schemeClr val="bg2"/>
          </a:solidFill>
          <a:ln/>
        </p:spPr>
        <p:txBody>
          <a:bodyPr/>
          <a:lstStyle/>
          <a:p>
            <a:endParaRPr lang="es-ES_tradnl"/>
          </a:p>
        </p:txBody>
      </p:sp>
      <p:sp>
        <p:nvSpPr>
          <p:cNvPr id="6" name="Text 4"/>
          <p:cNvSpPr txBox="1"/>
          <p:nvPr/>
        </p:nvSpPr>
        <p:spPr>
          <a:xfrm>
            <a:off x="914400" y="1737360"/>
            <a:ext cx="2783738" cy="320040"/>
          </a:xfrm>
          <a:prstGeom prst="rect">
            <a:avLst/>
          </a:prstGeom>
          <a:noFill/>
          <a:ln/>
        </p:spPr>
        <p:txBody>
          <a:bodyPr wrap="square" lIns="0" tIns="0" rIns="0" bIns="0" rtlCol="0" anchor="t"/>
          <a:lstStyle/>
          <a:p>
            <a:pPr marL="0" indent="0">
              <a:buNone/>
            </a:pPr>
            <a:r>
              <a:rPr lang="en-US" sz="1500" b="1" dirty="0">
                <a:solidFill>
                  <a:schemeClr val="accent2"/>
                </a:solidFill>
                <a:latin typeface="Courier New" pitchFamily="34" charset="0"/>
                <a:ea typeface="Courier New" pitchFamily="34" charset="-122"/>
                <a:cs typeface="Courier New" pitchFamily="34" charset="-120"/>
              </a:rPr>
              <a:t>X-Cache: HIT</a:t>
            </a:r>
            <a:endParaRPr lang="en-US" sz="1500" dirty="0"/>
          </a:p>
        </p:txBody>
      </p:sp>
      <p:sp>
        <p:nvSpPr>
          <p:cNvPr id="7" name="Text 5"/>
          <p:cNvSpPr txBox="1"/>
          <p:nvPr/>
        </p:nvSpPr>
        <p:spPr>
          <a:xfrm>
            <a:off x="914400" y="2194560"/>
            <a:ext cx="2783738" cy="1005840"/>
          </a:xfrm>
          <a:prstGeom prst="rect">
            <a:avLst/>
          </a:prstGeom>
          <a:noFill/>
          <a:ln/>
        </p:spPr>
        <p:txBody>
          <a:bodyPr wrap="square" lIns="0" tIns="0" rIns="0" bIns="0" rtlCol="0" anchor="ctr"/>
          <a:lstStyle/>
          <a:p>
            <a:pPr marL="0" indent="0">
              <a:buNone/>
            </a:pPr>
            <a:r>
              <a:rPr lang="en-US" sz="5400" b="1" dirty="0">
                <a:solidFill>
                  <a:schemeClr val="tx1"/>
                </a:solidFill>
                <a:latin typeface="Arial" pitchFamily="34" charset="0"/>
                <a:ea typeface="Arial" pitchFamily="34" charset="-122"/>
                <a:cs typeface="Arial" pitchFamily="34" charset="-120"/>
              </a:rPr>
              <a:t>0–2 ms</a:t>
            </a:r>
            <a:endParaRPr lang="en-US" sz="5400" dirty="0"/>
          </a:p>
        </p:txBody>
      </p:sp>
      <p:sp>
        <p:nvSpPr>
          <p:cNvPr id="8" name="Text 6"/>
          <p:cNvSpPr txBox="1"/>
          <p:nvPr/>
        </p:nvSpPr>
        <p:spPr>
          <a:xfrm>
            <a:off x="914400" y="3337560"/>
            <a:ext cx="2783738" cy="457200"/>
          </a:xfrm>
          <a:prstGeom prst="rect">
            <a:avLst/>
          </a:prstGeom>
          <a:noFill/>
          <a:ln/>
        </p:spPr>
        <p:txBody>
          <a:bodyPr wrap="square" lIns="0" tIns="0" rIns="0" bIns="0" rtlCol="0" anchor="t"/>
          <a:lstStyle/>
          <a:p>
            <a:pPr marL="0" indent="0">
              <a:buNone/>
            </a:pPr>
            <a:r>
              <a:rPr lang="en-US" sz="1500" dirty="0">
                <a:solidFill>
                  <a:schemeClr val="tx2"/>
                </a:solidFill>
                <a:latin typeface="Arial" pitchFamily="34" charset="0"/>
                <a:ea typeface="Arial" pitchFamily="34" charset="-122"/>
                <a:cs typeface="Arial" pitchFamily="34" charset="-120"/>
              </a:rPr>
              <a:t>Responde Redis</a:t>
            </a:r>
            <a:endParaRPr lang="en-US" sz="1500" dirty="0"/>
          </a:p>
        </p:txBody>
      </p:sp>
      <p:sp>
        <p:nvSpPr>
          <p:cNvPr id="9" name="Shape 7"/>
          <p:cNvSpPr/>
          <p:nvPr/>
        </p:nvSpPr>
        <p:spPr>
          <a:xfrm>
            <a:off x="4338218" y="1417320"/>
            <a:ext cx="3515258" cy="2651760"/>
          </a:xfrm>
          <a:prstGeom prst="roundRect">
            <a:avLst>
              <a:gd name="adj" fmla="val 3448"/>
            </a:avLst>
          </a:prstGeom>
          <a:solidFill>
            <a:schemeClr val="bg2"/>
          </a:solidFill>
          <a:ln/>
        </p:spPr>
        <p:txBody>
          <a:bodyPr/>
          <a:lstStyle/>
          <a:p>
            <a:endParaRPr lang="es-ES_tradnl"/>
          </a:p>
        </p:txBody>
      </p:sp>
      <p:sp>
        <p:nvSpPr>
          <p:cNvPr id="10" name="Text 8"/>
          <p:cNvSpPr txBox="1"/>
          <p:nvPr/>
        </p:nvSpPr>
        <p:spPr>
          <a:xfrm>
            <a:off x="4703978" y="1737360"/>
            <a:ext cx="2783738" cy="320040"/>
          </a:xfrm>
          <a:prstGeom prst="rect">
            <a:avLst/>
          </a:prstGeom>
          <a:noFill/>
          <a:ln/>
        </p:spPr>
        <p:txBody>
          <a:bodyPr wrap="square" lIns="0" tIns="0" rIns="0" bIns="0" rtlCol="0" anchor="t"/>
          <a:lstStyle/>
          <a:p>
            <a:pPr marL="0" indent="0">
              <a:buNone/>
            </a:pPr>
            <a:r>
              <a:rPr lang="en-US" sz="1500" b="1" dirty="0">
                <a:solidFill>
                  <a:schemeClr val="accent2"/>
                </a:solidFill>
                <a:latin typeface="Courier New" pitchFamily="34" charset="0"/>
                <a:ea typeface="Courier New" pitchFamily="34" charset="-122"/>
                <a:cs typeface="Courier New" pitchFamily="34" charset="-120"/>
              </a:rPr>
              <a:t>X-Cache: MISS</a:t>
            </a:r>
            <a:endParaRPr lang="en-US" sz="1500" dirty="0"/>
          </a:p>
        </p:txBody>
      </p:sp>
      <p:sp>
        <p:nvSpPr>
          <p:cNvPr id="11" name="Text 9"/>
          <p:cNvSpPr txBox="1"/>
          <p:nvPr/>
        </p:nvSpPr>
        <p:spPr>
          <a:xfrm>
            <a:off x="4703978" y="2194560"/>
            <a:ext cx="2783738" cy="1005840"/>
          </a:xfrm>
          <a:prstGeom prst="rect">
            <a:avLst/>
          </a:prstGeom>
          <a:noFill/>
          <a:ln/>
        </p:spPr>
        <p:txBody>
          <a:bodyPr wrap="square" lIns="0" tIns="0" rIns="0" bIns="0" rtlCol="0" anchor="ctr"/>
          <a:lstStyle/>
          <a:p>
            <a:pPr marL="0" indent="0">
              <a:buNone/>
            </a:pPr>
            <a:r>
              <a:rPr lang="en-US" sz="5400" b="1" dirty="0">
                <a:solidFill>
                  <a:schemeClr val="tx1"/>
                </a:solidFill>
                <a:latin typeface="Arial" pitchFamily="34" charset="0"/>
                <a:ea typeface="Arial" pitchFamily="34" charset="-122"/>
                <a:cs typeface="Arial" pitchFamily="34" charset="-120"/>
              </a:rPr>
              <a:t>1–4 ms</a:t>
            </a:r>
            <a:endParaRPr lang="en-US" sz="5400" dirty="0"/>
          </a:p>
        </p:txBody>
      </p:sp>
      <p:sp>
        <p:nvSpPr>
          <p:cNvPr id="12" name="Text 10"/>
          <p:cNvSpPr txBox="1"/>
          <p:nvPr/>
        </p:nvSpPr>
        <p:spPr>
          <a:xfrm>
            <a:off x="4703978" y="3337560"/>
            <a:ext cx="2783738" cy="457200"/>
          </a:xfrm>
          <a:prstGeom prst="rect">
            <a:avLst/>
          </a:prstGeom>
          <a:noFill/>
          <a:ln/>
        </p:spPr>
        <p:txBody>
          <a:bodyPr wrap="square" lIns="0" tIns="0" rIns="0" bIns="0" rtlCol="0" anchor="t"/>
          <a:lstStyle/>
          <a:p>
            <a:pPr marL="0" indent="0">
              <a:buNone/>
            </a:pPr>
            <a:r>
              <a:rPr lang="en-US" sz="1500" dirty="0">
                <a:solidFill>
                  <a:schemeClr val="tx2"/>
                </a:solidFill>
                <a:latin typeface="Arial" pitchFamily="34" charset="0"/>
                <a:ea typeface="Arial" pitchFamily="34" charset="-122"/>
                <a:cs typeface="Arial" pitchFamily="34" charset="-120"/>
              </a:rPr>
              <a:t>PostgreSQL y SET en Redis</a:t>
            </a:r>
            <a:endParaRPr lang="en-US" sz="1500" dirty="0"/>
          </a:p>
        </p:txBody>
      </p:sp>
      <p:sp>
        <p:nvSpPr>
          <p:cNvPr id="13" name="Shape 11"/>
          <p:cNvSpPr/>
          <p:nvPr/>
        </p:nvSpPr>
        <p:spPr>
          <a:xfrm>
            <a:off x="8127797" y="1417320"/>
            <a:ext cx="3515258" cy="2651760"/>
          </a:xfrm>
          <a:prstGeom prst="roundRect">
            <a:avLst>
              <a:gd name="adj" fmla="val 3448"/>
            </a:avLst>
          </a:prstGeom>
          <a:solidFill>
            <a:schemeClr val="bg2"/>
          </a:solidFill>
          <a:ln/>
        </p:spPr>
        <p:txBody>
          <a:bodyPr/>
          <a:lstStyle/>
          <a:p>
            <a:endParaRPr lang="es-ES_tradnl"/>
          </a:p>
        </p:txBody>
      </p:sp>
      <p:sp>
        <p:nvSpPr>
          <p:cNvPr id="14" name="Text 12"/>
          <p:cNvSpPr txBox="1"/>
          <p:nvPr/>
        </p:nvSpPr>
        <p:spPr>
          <a:xfrm>
            <a:off x="8493557" y="1737360"/>
            <a:ext cx="2783738" cy="320040"/>
          </a:xfrm>
          <a:prstGeom prst="rect">
            <a:avLst/>
          </a:prstGeom>
          <a:noFill/>
          <a:ln/>
        </p:spPr>
        <p:txBody>
          <a:bodyPr wrap="square" lIns="0" tIns="0" rIns="0" bIns="0" rtlCol="0" anchor="t"/>
          <a:lstStyle/>
          <a:p>
            <a:pPr marL="0" indent="0">
              <a:buNone/>
            </a:pPr>
            <a:r>
              <a:rPr lang="en-US" sz="1500" b="1" dirty="0">
                <a:solidFill>
                  <a:schemeClr val="accent3"/>
                </a:solidFill>
                <a:latin typeface="Courier New" pitchFamily="34" charset="0"/>
                <a:ea typeface="Courier New" pitchFamily="34" charset="-122"/>
                <a:cs typeface="Courier New" pitchFamily="34" charset="-120"/>
              </a:rPr>
              <a:t>X-Cache: BYPASS</a:t>
            </a:r>
            <a:endParaRPr lang="en-US" sz="1500" dirty="0"/>
          </a:p>
        </p:txBody>
      </p:sp>
      <p:sp>
        <p:nvSpPr>
          <p:cNvPr id="15" name="Text 13"/>
          <p:cNvSpPr txBox="1"/>
          <p:nvPr/>
        </p:nvSpPr>
        <p:spPr>
          <a:xfrm>
            <a:off x="8493557" y="2194560"/>
            <a:ext cx="2783738" cy="1005840"/>
          </a:xfrm>
          <a:prstGeom prst="rect">
            <a:avLst/>
          </a:prstGeom>
          <a:noFill/>
          <a:ln/>
        </p:spPr>
        <p:txBody>
          <a:bodyPr wrap="square" lIns="0" tIns="0" rIns="0" bIns="0" rtlCol="0" anchor="ctr"/>
          <a:lstStyle/>
          <a:p>
            <a:pPr marL="0" indent="0">
              <a:buNone/>
            </a:pPr>
            <a:r>
              <a:rPr lang="en-US" sz="5400" b="1" dirty="0">
                <a:solidFill>
                  <a:schemeClr val="tx1"/>
                </a:solidFill>
                <a:latin typeface="Arial" pitchFamily="34" charset="0"/>
                <a:ea typeface="Arial" pitchFamily="34" charset="-122"/>
                <a:cs typeface="Arial" pitchFamily="34" charset="-120"/>
              </a:rPr>
              <a:t>1–2 ms</a:t>
            </a:r>
            <a:endParaRPr lang="en-US" sz="5400" dirty="0"/>
          </a:p>
        </p:txBody>
      </p:sp>
      <p:sp>
        <p:nvSpPr>
          <p:cNvPr id="16" name="Text 14"/>
          <p:cNvSpPr txBox="1"/>
          <p:nvPr/>
        </p:nvSpPr>
        <p:spPr>
          <a:xfrm>
            <a:off x="8493557" y="3337560"/>
            <a:ext cx="2783738" cy="457200"/>
          </a:xfrm>
          <a:prstGeom prst="rect">
            <a:avLst/>
          </a:prstGeom>
          <a:noFill/>
          <a:ln/>
        </p:spPr>
        <p:txBody>
          <a:bodyPr wrap="square" lIns="0" tIns="0" rIns="0" bIns="0" rtlCol="0" anchor="t"/>
          <a:lstStyle/>
          <a:p>
            <a:pPr marL="0" indent="0">
              <a:buNone/>
            </a:pPr>
            <a:r>
              <a:rPr lang="en-US" sz="1500" dirty="0">
                <a:solidFill>
                  <a:schemeClr val="tx2"/>
                </a:solidFill>
                <a:latin typeface="Arial" pitchFamily="34" charset="0"/>
                <a:ea typeface="Arial" pitchFamily="34" charset="-122"/>
                <a:cs typeface="Arial" pitchFamily="34" charset="-120"/>
              </a:rPr>
              <a:t>Redis detenido, lee PostgreSQL</a:t>
            </a:r>
            <a:endParaRPr lang="en-US" sz="1500" dirty="0"/>
          </a:p>
        </p:txBody>
      </p:sp>
      <p:sp>
        <p:nvSpPr>
          <p:cNvPr id="17" name="Text 15"/>
          <p:cNvSpPr txBox="1"/>
          <p:nvPr/>
        </p:nvSpPr>
        <p:spPr>
          <a:xfrm>
            <a:off x="548640" y="4526280"/>
            <a:ext cx="11094415" cy="822960"/>
          </a:xfrm>
          <a:prstGeom prst="rect">
            <a:avLst/>
          </a:prstGeom>
          <a:noFill/>
          <a:ln/>
        </p:spPr>
        <p:txBody>
          <a:bodyPr wrap="square" lIns="0" tIns="0" rIns="0" bIns="0" rtlCol="0" anchor="t"/>
          <a:lstStyle/>
          <a:p>
            <a:pPr marL="0" indent="0">
              <a:buNone/>
            </a:pPr>
            <a:r>
              <a:rPr lang="en-US" sz="1800" dirty="0">
                <a:solidFill>
                  <a:schemeClr val="tx2"/>
                </a:solidFill>
                <a:latin typeface="Arial" pitchFamily="34" charset="0"/>
                <a:ea typeface="Arial" pitchFamily="34" charset="-122"/>
                <a:cs typeface="Arial" pitchFamily="34" charset="-120"/>
              </a:rPr>
              <a:t>Umbral de CP-05: 1000 ms. La suite midió BYPASS en 12.05 ms. Son mediciones puntuales en local, no una prueba de carga.</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685800"/>
          </a:xfrm>
          <a:prstGeom prst="rect">
            <a:avLst/>
          </a:prstGeom>
          <a:noFill/>
          <a:ln/>
        </p:spPr>
        <p:txBody>
          <a:bodyPr wrap="square" lIns="0" tIns="0" rIns="0" bIns="0" rtlCol="0" anchor="ctr"/>
          <a:lstStyle/>
          <a:p>
            <a:pPr marL="0" indent="0" algn="l">
              <a:buNone/>
            </a:pPr>
            <a:r>
              <a:rPr lang="en-US" sz="3600" b="1" dirty="0">
                <a:solidFill>
                  <a:schemeClr val="bg1"/>
                </a:solidFill>
              </a:rPr>
              <a:t>H-01: el cliente por defecto bloquea la API</a:t>
            </a:r>
            <a:endParaRPr lang="en-US" sz="3600" dirty="0"/>
          </a:p>
        </p:txBody>
      </p:sp>
      <p:sp>
        <p:nvSpPr>
          <p:cNvPr id="3" name="Text 0"/>
          <p:cNvSpPr>
            <a:spLocks noGrp="1"/>
          </p:cNvSpPr>
          <p:nvPr>
            <p:ph type="body" idx="101" hasCustomPrompt="1"/>
          </p:nvPr>
        </p:nvSpPr>
        <p:spPr>
          <a:xfrm>
            <a:off x="548640" y="6355080"/>
            <a:ext cx="6858000" cy="274320"/>
          </a:xfrm>
          <a:prstGeom prst="rect">
            <a:avLst/>
          </a:prstGeom>
          <a:noFill/>
          <a:ln/>
        </p:spPr>
        <p:txBody>
          <a:bodyPr wrap="square" lIns="0" tIns="0" rIns="0" bIns="0" rtlCol="0" anchor="ctr"/>
          <a:lstStyle/>
          <a:p>
            <a:pPr marL="0" indent="0">
              <a:buNone/>
            </a:pPr>
            <a:r>
              <a:rPr lang="en-US" sz="1100" dirty="0">
                <a:solidFill>
                  <a:schemeClr val="accent6"/>
                </a:solidFill>
              </a:rPr>
              <a:t>C · Resultados y conclusiones</a:t>
            </a:r>
            <a:endParaRPr lang="en-US" sz="1100" dirty="0"/>
          </a:p>
        </p:txBody>
      </p:sp>
      <p:sp>
        <p:nvSpPr>
          <p:cNvPr id="4" name="Text 0"/>
          <p:cNvSpPr>
            <a:spLocks noGrp="1"/>
          </p:cNvSpPr>
          <p:nvPr>
            <p:ph type="body" idx="102" hasCustomPrompt="1"/>
          </p:nvPr>
        </p:nvSpPr>
        <p:spPr>
          <a:xfrm>
            <a:off x="7589520" y="6355080"/>
            <a:ext cx="4053535" cy="274320"/>
          </a:xfrm>
          <a:prstGeom prst="rect">
            <a:avLst/>
          </a:prstGeom>
          <a:noFill/>
          <a:ln/>
        </p:spPr>
        <p:txBody>
          <a:bodyPr wrap="square" lIns="0" tIns="0" rIns="0" bIns="0" rtlCol="0" anchor="ctr"/>
          <a:lstStyle/>
          <a:p>
            <a:pPr marL="0" indent="0" algn="r">
              <a:buNone/>
            </a:pPr>
            <a:r>
              <a:rPr lang="en-US" sz="1100" dirty="0">
                <a:solidFill>
                  <a:schemeClr val="accent6"/>
                </a:solidFill>
              </a:rPr>
              <a:t>docs/evidencias/HALLAZGO-01</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1920240"/>
        </p:xfrm>
        <a:graphic>
          <a:graphicData uri="http://schemas.openxmlformats.org/drawingml/2006/table">
            <a:tbl>
              <a:tblPr/>
              <a:tblGrid>
                <a:gridCol w="37490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87775">
                  <a:extLst>
                    <a:ext uri="{9D8B030D-6E8A-4147-A177-3AD203B41FA5}">
                      <a16:colId xmlns:a16="http://schemas.microsoft.com/office/drawing/2014/main" val="20002"/>
                    </a:ext>
                  </a:extLst>
                </a:gridCol>
              </a:tblGrid>
              <a:tr h="640080">
                <a:tc>
                  <a:txBody>
                    <a:bodyPr/>
                    <a:lstStyle/>
                    <a:p>
                      <a:pPr marL="0" indent="0">
                        <a:buNone/>
                      </a:pPr>
                      <a:r>
                        <a:rPr lang="en-US" sz="1700" b="1" dirty="0">
                          <a:solidFill>
                            <a:schemeClr val="bg1"/>
                          </a:solidFill>
                          <a:latin typeface="Arial" pitchFamily="34" charset="0"/>
                          <a:ea typeface="Arial" pitchFamily="34" charset="-122"/>
                          <a:cs typeface="Arial" pitchFamily="34" charset="-120"/>
                        </a:rPr>
                        <a:t>Escenario</a:t>
                      </a:r>
                      <a:endParaRPr lang="en-US" sz="1700" dirty="0">
                        <a:latin typeface="Arial" charset="0"/>
                        <a:ea typeface="Arial" charset="0"/>
                        <a:cs typeface="Arial" charset="0"/>
                      </a:endParaRPr>
                    </a:p>
                  </a:txBody>
                  <a:tcPr anchor="ctr">
                    <a:lnL w="9525" cap="flat" cmpd="sng" algn="ctr">
                      <a:solidFill>
                        <a:srgbClr val="34445A"/>
                      </a:solidFill>
                      <a:prstDash val="solid"/>
                      <a:round/>
                      <a:headEnd type="none" w="med" len="med"/>
                      <a:tailEnd type="none" w="med" len="med"/>
                    </a:lnL>
                    <a:lnR w="9525" cap="flat" cmpd="sng" algn="ctr">
                      <a:solidFill>
                        <a:srgbClr val="34445A"/>
                      </a:solidFill>
                      <a:prstDash val="solid"/>
                      <a:round/>
                      <a:headEnd type="none" w="med" len="med"/>
                      <a:tailEnd type="none" w="med" len="med"/>
                    </a:lnR>
                    <a:lnT w="9525" cap="flat" cmpd="sng" algn="ctr">
                      <a:solidFill>
                        <a:srgbClr val="34445A"/>
                      </a:solidFill>
                      <a:prstDash val="solid"/>
                      <a:round/>
                      <a:headEnd type="none" w="med" len="med"/>
                      <a:tailEnd type="none" w="med" len="med"/>
                    </a:lnT>
                    <a:lnB w="9525" cap="flat" cmpd="sng" algn="ctr">
                      <a:solidFill>
                        <a:srgbClr val="34445A"/>
                      </a:solidFill>
                      <a:prstDash val="solid"/>
                      <a:round/>
                      <a:headEnd type="none" w="med" len="med"/>
                      <a:tailEnd type="none" w="med" len="med"/>
                    </a:lnB>
                    <a:solidFill>
                      <a:srgbClr val="2C3A4D"/>
                    </a:solidFill>
                  </a:tcPr>
                </a:tc>
                <a:tc>
                  <a:txBody>
                    <a:bodyPr/>
                    <a:lstStyle/>
                    <a:p>
                      <a:pPr marL="0" indent="0">
                        <a:buNone/>
                      </a:pPr>
                      <a:r>
                        <a:rPr lang="en-US" sz="1700" b="1" dirty="0">
                          <a:solidFill>
                            <a:schemeClr val="bg1"/>
                          </a:solidFill>
                          <a:latin typeface="Arial" pitchFamily="34" charset="0"/>
                          <a:ea typeface="Arial" pitchFamily="34" charset="-122"/>
                          <a:cs typeface="Arial" pitchFamily="34" charset="-120"/>
                        </a:rPr>
                        <a:t>Cliente por defecto</a:t>
                      </a:r>
                      <a:endParaRPr lang="en-US" sz="1700" dirty="0">
                        <a:latin typeface="Arial" charset="0"/>
                        <a:ea typeface="Arial" charset="0"/>
                        <a:cs typeface="Arial" charset="0"/>
                      </a:endParaRPr>
                    </a:p>
                  </a:txBody>
                  <a:tcPr anchor="ctr">
                    <a:lnL w="9525" cap="flat" cmpd="sng" algn="ctr">
                      <a:solidFill>
                        <a:srgbClr val="34445A"/>
                      </a:solidFill>
                      <a:prstDash val="solid"/>
                      <a:round/>
                      <a:headEnd type="none" w="med" len="med"/>
                      <a:tailEnd type="none" w="med" len="med"/>
                    </a:lnL>
                    <a:lnR w="9525" cap="flat" cmpd="sng" algn="ctr">
                      <a:solidFill>
                        <a:srgbClr val="34445A"/>
                      </a:solidFill>
                      <a:prstDash val="solid"/>
                      <a:round/>
                      <a:headEnd type="none" w="med" len="med"/>
                      <a:tailEnd type="none" w="med" len="med"/>
                    </a:lnR>
                    <a:lnT w="9525" cap="flat" cmpd="sng" algn="ctr">
                      <a:solidFill>
                        <a:srgbClr val="34445A"/>
                      </a:solidFill>
                      <a:prstDash val="solid"/>
                      <a:round/>
                      <a:headEnd type="none" w="med" len="med"/>
                      <a:tailEnd type="none" w="med" len="med"/>
                    </a:lnT>
                    <a:lnB w="9525" cap="flat" cmpd="sng" algn="ctr">
                      <a:solidFill>
                        <a:srgbClr val="34445A"/>
                      </a:solidFill>
                      <a:prstDash val="solid"/>
                      <a:round/>
                      <a:headEnd type="none" w="med" len="med"/>
                      <a:tailEnd type="none" w="med" len="med"/>
                    </a:lnB>
                    <a:solidFill>
                      <a:srgbClr val="2C3A4D"/>
                    </a:solidFill>
                  </a:tcPr>
                </a:tc>
                <a:tc>
                  <a:txBody>
                    <a:bodyPr/>
                    <a:lstStyle/>
                    <a:p>
                      <a:pPr marL="0" indent="0">
                        <a:buNone/>
                      </a:pPr>
                      <a:r>
                        <a:rPr lang="en-US" sz="1700" b="1" dirty="0">
                          <a:solidFill>
                            <a:schemeClr val="accent1"/>
                          </a:solidFill>
                          <a:latin typeface="Arial" pitchFamily="34" charset="0"/>
                          <a:ea typeface="Arial" pitchFamily="34" charset="-122"/>
                          <a:cs typeface="Arial" pitchFamily="34" charset="-120"/>
                        </a:rPr>
                        <a:t>Cliente del laboratorio</a:t>
                      </a:r>
                      <a:endParaRPr lang="en-US" sz="1700" dirty="0">
                        <a:latin typeface="Arial" charset="0"/>
                        <a:ea typeface="Arial" charset="0"/>
                        <a:cs typeface="Arial" charset="0"/>
                      </a:endParaRPr>
                    </a:p>
                  </a:txBody>
                  <a:tcPr anchor="ctr">
                    <a:lnL w="9525" cap="flat" cmpd="sng" algn="ctr">
                      <a:solidFill>
                        <a:srgbClr val="34445A"/>
                      </a:solidFill>
                      <a:prstDash val="solid"/>
                      <a:round/>
                      <a:headEnd type="none" w="med" len="med"/>
                      <a:tailEnd type="none" w="med" len="med"/>
                    </a:lnL>
                    <a:lnR w="9525" cap="flat" cmpd="sng" algn="ctr">
                      <a:solidFill>
                        <a:srgbClr val="34445A"/>
                      </a:solidFill>
                      <a:prstDash val="solid"/>
                      <a:round/>
                      <a:headEnd type="none" w="med" len="med"/>
                      <a:tailEnd type="none" w="med" len="med"/>
                    </a:lnR>
                    <a:lnT w="9525" cap="flat" cmpd="sng" algn="ctr">
                      <a:solidFill>
                        <a:srgbClr val="34445A"/>
                      </a:solidFill>
                      <a:prstDash val="solid"/>
                      <a:round/>
                      <a:headEnd type="none" w="med" len="med"/>
                      <a:tailEnd type="none" w="med" len="med"/>
                    </a:lnT>
                    <a:lnB w="9525" cap="flat" cmpd="sng" algn="ctr">
                      <a:solidFill>
                        <a:srgbClr val="34445A"/>
                      </a:solidFill>
                      <a:prstDash val="solid"/>
                      <a:round/>
                      <a:headEnd type="none" w="med" len="med"/>
                      <a:tailEnd type="none" w="med" len="med"/>
                    </a:lnB>
                    <a:solidFill>
                      <a:srgbClr val="2C3A4D"/>
                    </a:solidFill>
                  </a:tcPr>
                </a:tc>
                <a:extLst>
                  <a:ext uri="{0D108BD9-81ED-4DB2-BD59-A6C34878D82A}">
                    <a16:rowId xmlns:a16="http://schemas.microsoft.com/office/drawing/2014/main" val="10000"/>
                  </a:ext>
                </a:extLst>
              </a:tr>
              <a:tr h="640080">
                <a:tc>
                  <a:txBody>
                    <a:bodyPr/>
                    <a:lstStyle/>
                    <a:p>
                      <a:pPr marL="0" indent="0">
                        <a:buNone/>
                      </a:pPr>
                      <a:r>
                        <a:rPr lang="en-US" sz="1700" dirty="0">
                          <a:solidFill>
                            <a:schemeClr val="bg1"/>
                          </a:solidFill>
                          <a:latin typeface="Arial" pitchFamily="34" charset="0"/>
                          <a:ea typeface="Arial" pitchFamily="34" charset="-122"/>
                          <a:cs typeface="Arial" pitchFamily="34" charset="-120"/>
                        </a:rPr>
                        <a:t>Redis detenido (docker stop)</a:t>
                      </a:r>
                      <a:endParaRPr lang="en-US" sz="1700" dirty="0">
                        <a:latin typeface="Arial" charset="0"/>
                        <a:ea typeface="Arial" charset="0"/>
                        <a:cs typeface="Arial" charset="0"/>
                      </a:endParaRPr>
                    </a:p>
                  </a:txBody>
                  <a:tcPr anchor="ctr">
                    <a:lnL w="9525" cap="flat" cmpd="sng" algn="ctr">
                      <a:solidFill>
                        <a:srgbClr val="34445A"/>
                      </a:solidFill>
                      <a:prstDash val="solid"/>
                      <a:round/>
                      <a:headEnd type="none" w="med" len="med"/>
                      <a:tailEnd type="none" w="med" len="med"/>
                    </a:lnL>
                    <a:lnR w="9525" cap="flat" cmpd="sng" algn="ctr">
                      <a:solidFill>
                        <a:srgbClr val="34445A"/>
                      </a:solidFill>
                      <a:prstDash val="solid"/>
                      <a:round/>
                      <a:headEnd type="none" w="med" len="med"/>
                      <a:tailEnd type="none" w="med" len="med"/>
                    </a:lnR>
                    <a:lnT w="9525" cap="flat" cmpd="sng" algn="ctr">
                      <a:solidFill>
                        <a:srgbClr val="34445A"/>
                      </a:solidFill>
                      <a:prstDash val="solid"/>
                      <a:round/>
                      <a:headEnd type="none" w="med" len="med"/>
                      <a:tailEnd type="none" w="med" len="med"/>
                    </a:lnT>
                    <a:lnB w="9525" cap="flat" cmpd="sng" algn="ctr">
                      <a:solidFill>
                        <a:srgbClr val="34445A"/>
                      </a:solidFill>
                      <a:prstDash val="solid"/>
                      <a:round/>
                      <a:headEnd type="none" w="med" len="med"/>
                      <a:tailEnd type="none" w="med" len="med"/>
                    </a:lnB>
                    <a:solidFill>
                      <a:schemeClr val="accent5"/>
                    </a:solidFill>
                  </a:tcPr>
                </a:tc>
                <a:tc>
                  <a:txBody>
                    <a:bodyPr/>
                    <a:lstStyle/>
                    <a:p>
                      <a:pPr marL="0" indent="0">
                        <a:buNone/>
                      </a:pPr>
                      <a:r>
                        <a:rPr lang="en-US" sz="1700" dirty="0">
                          <a:solidFill>
                            <a:schemeClr val="bg1"/>
                          </a:solidFill>
                          <a:latin typeface="Arial" pitchFamily="34" charset="0"/>
                          <a:ea typeface="Arial" pitchFamily="34" charset="-122"/>
                          <a:cs typeface="Arial" pitchFamily="34" charset="-120"/>
                        </a:rPr>
                        <a:t>~5 000 ms y luego TimeoutError</a:t>
                      </a:r>
                      <a:endParaRPr lang="en-US" sz="1700" dirty="0">
                        <a:latin typeface="Arial" charset="0"/>
                        <a:ea typeface="Arial" charset="0"/>
                        <a:cs typeface="Arial" charset="0"/>
                      </a:endParaRPr>
                    </a:p>
                  </a:txBody>
                  <a:tcPr anchor="ctr">
                    <a:lnL w="9525" cap="flat" cmpd="sng" algn="ctr">
                      <a:solidFill>
                        <a:srgbClr val="34445A"/>
                      </a:solidFill>
                      <a:prstDash val="solid"/>
                      <a:round/>
                      <a:headEnd type="none" w="med" len="med"/>
                      <a:tailEnd type="none" w="med" len="med"/>
                    </a:lnL>
                    <a:lnR w="9525" cap="flat" cmpd="sng" algn="ctr">
                      <a:solidFill>
                        <a:srgbClr val="34445A"/>
                      </a:solidFill>
                      <a:prstDash val="solid"/>
                      <a:round/>
                      <a:headEnd type="none" w="med" len="med"/>
                      <a:tailEnd type="none" w="med" len="med"/>
                    </a:lnR>
                    <a:lnT w="9525" cap="flat" cmpd="sng" algn="ctr">
                      <a:solidFill>
                        <a:srgbClr val="34445A"/>
                      </a:solidFill>
                      <a:prstDash val="solid"/>
                      <a:round/>
                      <a:headEnd type="none" w="med" len="med"/>
                      <a:tailEnd type="none" w="med" len="med"/>
                    </a:lnT>
                    <a:lnB w="9525" cap="flat" cmpd="sng" algn="ctr">
                      <a:solidFill>
                        <a:srgbClr val="34445A"/>
                      </a:solidFill>
                      <a:prstDash val="solid"/>
                      <a:round/>
                      <a:headEnd type="none" w="med" len="med"/>
                      <a:tailEnd type="none" w="med" len="med"/>
                    </a:lnB>
                    <a:solidFill>
                      <a:schemeClr val="accent5"/>
                    </a:solidFill>
                  </a:tcPr>
                </a:tc>
                <a:tc>
                  <a:txBody>
                    <a:bodyPr/>
                    <a:lstStyle/>
                    <a:p>
                      <a:pPr marL="0" indent="0">
                        <a:buNone/>
                      </a:pPr>
                      <a:r>
                        <a:rPr lang="en-US" sz="1700" dirty="0">
                          <a:solidFill>
                            <a:schemeClr val="bg1"/>
                          </a:solidFill>
                          <a:latin typeface="Arial" pitchFamily="34" charset="0"/>
                          <a:ea typeface="Arial" pitchFamily="34" charset="-122"/>
                          <a:cs typeface="Arial" pitchFamily="34" charset="-120"/>
                        </a:rPr>
                        <a:t>~1 ms → ERROR → BYPASS</a:t>
                      </a:r>
                      <a:endParaRPr lang="en-US" sz="1700" dirty="0">
                        <a:latin typeface="Arial" charset="0"/>
                        <a:ea typeface="Arial" charset="0"/>
                        <a:cs typeface="Arial" charset="0"/>
                      </a:endParaRPr>
                    </a:p>
                  </a:txBody>
                  <a:tcPr anchor="ctr">
                    <a:lnL w="9525" cap="flat" cmpd="sng" algn="ctr">
                      <a:solidFill>
                        <a:srgbClr val="34445A"/>
                      </a:solidFill>
                      <a:prstDash val="solid"/>
                      <a:round/>
                      <a:headEnd type="none" w="med" len="med"/>
                      <a:tailEnd type="none" w="med" len="med"/>
                    </a:lnL>
                    <a:lnR w="9525" cap="flat" cmpd="sng" algn="ctr">
                      <a:solidFill>
                        <a:srgbClr val="34445A"/>
                      </a:solidFill>
                      <a:prstDash val="solid"/>
                      <a:round/>
                      <a:headEnd type="none" w="med" len="med"/>
                      <a:tailEnd type="none" w="med" len="med"/>
                    </a:lnR>
                    <a:lnT w="9525" cap="flat" cmpd="sng" algn="ctr">
                      <a:solidFill>
                        <a:srgbClr val="34445A"/>
                      </a:solidFill>
                      <a:prstDash val="solid"/>
                      <a:round/>
                      <a:headEnd type="none" w="med" len="med"/>
                      <a:tailEnd type="none" w="med" len="med"/>
                    </a:lnT>
                    <a:lnB w="9525" cap="flat" cmpd="sng" algn="ctr">
                      <a:solidFill>
                        <a:srgbClr val="34445A"/>
                      </a:solidFill>
                      <a:prstDash val="solid"/>
                      <a:round/>
                      <a:headEnd type="none" w="med" len="med"/>
                      <a:tailEnd type="none" w="med" len="med"/>
                    </a:lnB>
                    <a:solidFill>
                      <a:schemeClr val="accent5"/>
                    </a:solidFill>
                  </a:tcPr>
                </a:tc>
                <a:extLst>
                  <a:ext uri="{0D108BD9-81ED-4DB2-BD59-A6C34878D82A}">
                    <a16:rowId xmlns:a16="http://schemas.microsoft.com/office/drawing/2014/main" val="10001"/>
                  </a:ext>
                </a:extLst>
              </a:tr>
              <a:tr h="640080">
                <a:tc>
                  <a:txBody>
                    <a:bodyPr/>
                    <a:lstStyle/>
                    <a:p>
                      <a:pPr marL="0" indent="0">
                        <a:buNone/>
                      </a:pPr>
                      <a:r>
                        <a:rPr lang="en-US" sz="1700" dirty="0">
                          <a:solidFill>
                            <a:schemeClr val="bg1"/>
                          </a:solidFill>
                          <a:latin typeface="Arial" pitchFamily="34" charset="0"/>
                          <a:ea typeface="Arial" pitchFamily="34" charset="-122"/>
                          <a:cs typeface="Arial" pitchFamily="34" charset="-120"/>
                        </a:rPr>
                        <a:t>Redis congelado (docker pause)</a:t>
                      </a:r>
                      <a:endParaRPr lang="en-US" sz="1700" dirty="0">
                        <a:latin typeface="Arial" charset="0"/>
                        <a:ea typeface="Arial" charset="0"/>
                        <a:cs typeface="Arial" charset="0"/>
                      </a:endParaRPr>
                    </a:p>
                  </a:txBody>
                  <a:tcPr anchor="ctr">
                    <a:lnL w="9525" cap="flat" cmpd="sng" algn="ctr">
                      <a:solidFill>
                        <a:srgbClr val="34445A"/>
                      </a:solidFill>
                      <a:prstDash val="solid"/>
                      <a:round/>
                      <a:headEnd type="none" w="med" len="med"/>
                      <a:tailEnd type="none" w="med" len="med"/>
                    </a:lnL>
                    <a:lnR w="9525" cap="flat" cmpd="sng" algn="ctr">
                      <a:solidFill>
                        <a:srgbClr val="34445A"/>
                      </a:solidFill>
                      <a:prstDash val="solid"/>
                      <a:round/>
                      <a:headEnd type="none" w="med" len="med"/>
                      <a:tailEnd type="none" w="med" len="med"/>
                    </a:lnR>
                    <a:lnT w="9525" cap="flat" cmpd="sng" algn="ctr">
                      <a:solidFill>
                        <a:srgbClr val="34445A"/>
                      </a:solidFill>
                      <a:prstDash val="solid"/>
                      <a:round/>
                      <a:headEnd type="none" w="med" len="med"/>
                      <a:tailEnd type="none" w="med" len="med"/>
                    </a:lnT>
                    <a:lnB w="9525" cap="flat" cmpd="sng" algn="ctr">
                      <a:solidFill>
                        <a:srgbClr val="34445A"/>
                      </a:solidFill>
                      <a:prstDash val="solid"/>
                      <a:round/>
                      <a:headEnd type="none" w="med" len="med"/>
                      <a:tailEnd type="none" w="med" len="med"/>
                    </a:lnB>
                    <a:solidFill>
                      <a:srgbClr val="1F2A38"/>
                    </a:solidFill>
                  </a:tcPr>
                </a:tc>
                <a:tc>
                  <a:txBody>
                    <a:bodyPr/>
                    <a:lstStyle/>
                    <a:p>
                      <a:pPr marL="0" indent="0">
                        <a:buNone/>
                      </a:pPr>
                      <a:r>
                        <a:rPr lang="en-US" sz="1700" dirty="0">
                          <a:solidFill>
                            <a:schemeClr val="bg1"/>
                          </a:solidFill>
                          <a:latin typeface="Arial" pitchFamily="34" charset="0"/>
                          <a:ea typeface="Arial" pitchFamily="34" charset="-122"/>
                          <a:cs typeface="Arial" pitchFamily="34" charset="-120"/>
                        </a:rPr>
                        <a:t>Sin respuesta (corte a 10 000 ms)</a:t>
                      </a:r>
                      <a:endParaRPr lang="en-US" sz="1700" dirty="0">
                        <a:latin typeface="Arial" charset="0"/>
                        <a:ea typeface="Arial" charset="0"/>
                        <a:cs typeface="Arial" charset="0"/>
                      </a:endParaRPr>
                    </a:p>
                  </a:txBody>
                  <a:tcPr anchor="ctr">
                    <a:lnL w="9525" cap="flat" cmpd="sng" algn="ctr">
                      <a:solidFill>
                        <a:srgbClr val="34445A"/>
                      </a:solidFill>
                      <a:prstDash val="solid"/>
                      <a:round/>
                      <a:headEnd type="none" w="med" len="med"/>
                      <a:tailEnd type="none" w="med" len="med"/>
                    </a:lnL>
                    <a:lnR w="9525" cap="flat" cmpd="sng" algn="ctr">
                      <a:solidFill>
                        <a:srgbClr val="34445A"/>
                      </a:solidFill>
                      <a:prstDash val="solid"/>
                      <a:round/>
                      <a:headEnd type="none" w="med" len="med"/>
                      <a:tailEnd type="none" w="med" len="med"/>
                    </a:lnR>
                    <a:lnT w="9525" cap="flat" cmpd="sng" algn="ctr">
                      <a:solidFill>
                        <a:srgbClr val="34445A"/>
                      </a:solidFill>
                      <a:prstDash val="solid"/>
                      <a:round/>
                      <a:headEnd type="none" w="med" len="med"/>
                      <a:tailEnd type="none" w="med" len="med"/>
                    </a:lnT>
                    <a:lnB w="9525" cap="flat" cmpd="sng" algn="ctr">
                      <a:solidFill>
                        <a:srgbClr val="34445A"/>
                      </a:solidFill>
                      <a:prstDash val="solid"/>
                      <a:round/>
                      <a:headEnd type="none" w="med" len="med"/>
                      <a:tailEnd type="none" w="med" len="med"/>
                    </a:lnB>
                    <a:solidFill>
                      <a:srgbClr val="1F2A38"/>
                    </a:solidFill>
                  </a:tcPr>
                </a:tc>
                <a:tc>
                  <a:txBody>
                    <a:bodyPr/>
                    <a:lstStyle/>
                    <a:p>
                      <a:pPr marL="0" indent="0">
                        <a:buNone/>
                      </a:pPr>
                      <a:r>
                        <a:rPr lang="en-US" sz="1700" dirty="0">
                          <a:solidFill>
                            <a:schemeClr val="bg1"/>
                          </a:solidFill>
                          <a:latin typeface="Arial" pitchFamily="34" charset="0"/>
                          <a:ea typeface="Arial" pitchFamily="34" charset="-122"/>
                          <a:cs typeface="Arial" pitchFamily="34" charset="-120"/>
                        </a:rPr>
                        <a:t>~500 ms → ERROR → BYPASS</a:t>
                      </a:r>
                      <a:endParaRPr lang="en-US" sz="1700" dirty="0">
                        <a:latin typeface="Arial" charset="0"/>
                        <a:ea typeface="Arial" charset="0"/>
                        <a:cs typeface="Arial" charset="0"/>
                      </a:endParaRPr>
                    </a:p>
                  </a:txBody>
                  <a:tcPr anchor="ctr">
                    <a:lnL w="9525" cap="flat" cmpd="sng" algn="ctr">
                      <a:solidFill>
                        <a:srgbClr val="34445A"/>
                      </a:solidFill>
                      <a:prstDash val="solid"/>
                      <a:round/>
                      <a:headEnd type="none" w="med" len="med"/>
                      <a:tailEnd type="none" w="med" len="med"/>
                    </a:lnL>
                    <a:lnR w="9525" cap="flat" cmpd="sng" algn="ctr">
                      <a:solidFill>
                        <a:srgbClr val="34445A"/>
                      </a:solidFill>
                      <a:prstDash val="solid"/>
                      <a:round/>
                      <a:headEnd type="none" w="med" len="med"/>
                      <a:tailEnd type="none" w="med" len="med"/>
                    </a:lnR>
                    <a:lnT w="9525" cap="flat" cmpd="sng" algn="ctr">
                      <a:solidFill>
                        <a:srgbClr val="34445A"/>
                      </a:solidFill>
                      <a:prstDash val="solid"/>
                      <a:round/>
                      <a:headEnd type="none" w="med" len="med"/>
                      <a:tailEnd type="none" w="med" len="med"/>
                    </a:lnT>
                    <a:lnB w="9525" cap="flat" cmpd="sng" algn="ctr">
                      <a:solidFill>
                        <a:srgbClr val="34445A"/>
                      </a:solidFill>
                      <a:prstDash val="solid"/>
                      <a:round/>
                      <a:headEnd type="none" w="med" len="med"/>
                      <a:tailEnd type="none" w="med" len="med"/>
                    </a:lnB>
                    <a:solidFill>
                      <a:srgbClr val="1F2A38"/>
                    </a:solidFill>
                  </a:tcPr>
                </a:tc>
                <a:extLst>
                  <a:ext uri="{0D108BD9-81ED-4DB2-BD59-A6C34878D82A}">
                    <a16:rowId xmlns:a16="http://schemas.microsoft.com/office/drawing/2014/main" val="10002"/>
                  </a:ext>
                </a:extLst>
              </a:tr>
            </a:tbl>
          </a:graphicData>
        </a:graphic>
      </p:graphicFrame>
      <p:sp>
        <p:nvSpPr>
          <p:cNvPr id="6" name="Shape 3"/>
          <p:cNvSpPr/>
          <p:nvPr/>
        </p:nvSpPr>
        <p:spPr>
          <a:xfrm>
            <a:off x="548640" y="3749040"/>
            <a:ext cx="5410048" cy="1463040"/>
          </a:xfrm>
          <a:prstGeom prst="roundRect">
            <a:avLst>
              <a:gd name="adj" fmla="val 6250"/>
            </a:avLst>
          </a:prstGeom>
          <a:solidFill>
            <a:schemeClr val="accent5"/>
          </a:solidFill>
          <a:ln/>
        </p:spPr>
        <p:txBody>
          <a:bodyPr/>
          <a:lstStyle/>
          <a:p>
            <a:endParaRPr lang="es-ES_tradnl"/>
          </a:p>
        </p:txBody>
      </p:sp>
      <p:sp>
        <p:nvSpPr>
          <p:cNvPr id="7" name="Text 4"/>
          <p:cNvSpPr txBox="1"/>
          <p:nvPr/>
        </p:nvSpPr>
        <p:spPr>
          <a:xfrm>
            <a:off x="914400" y="3749040"/>
            <a:ext cx="4678528" cy="1463040"/>
          </a:xfrm>
          <a:prstGeom prst="rect">
            <a:avLst/>
          </a:prstGeom>
          <a:noFill/>
          <a:ln/>
        </p:spPr>
        <p:txBody>
          <a:bodyPr wrap="square" lIns="0" tIns="0" rIns="0" bIns="0" rtlCol="0" anchor="ctr"/>
          <a:lstStyle/>
          <a:p>
            <a:pPr marL="0" indent="0">
              <a:buNone/>
            </a:pPr>
            <a:r>
              <a:rPr lang="en-US" sz="1800" dirty="0">
                <a:solidFill>
                  <a:schemeClr val="bg1"/>
                </a:solidFill>
                <a:latin typeface="Arial" pitchFamily="34" charset="0"/>
                <a:ea typeface="Arial" pitchFamily="34" charset="-122"/>
                <a:cs typeface="Arial" pitchFamily="34" charset="-120"/>
              </a:rPr>
              <a:t>Desactivar la cola fuera de línea resuelve la caída, no la lentitud.</a:t>
            </a:r>
            <a:endParaRPr lang="en-US" sz="1800" dirty="0"/>
          </a:p>
        </p:txBody>
      </p:sp>
      <p:sp>
        <p:nvSpPr>
          <p:cNvPr id="8" name="Shape 5"/>
          <p:cNvSpPr/>
          <p:nvPr/>
        </p:nvSpPr>
        <p:spPr>
          <a:xfrm>
            <a:off x="6233008" y="3749040"/>
            <a:ext cx="5410048" cy="1463040"/>
          </a:xfrm>
          <a:prstGeom prst="roundRect">
            <a:avLst>
              <a:gd name="adj" fmla="val 6250"/>
            </a:avLst>
          </a:prstGeom>
          <a:solidFill>
            <a:schemeClr val="accent5"/>
          </a:solidFill>
          <a:ln/>
        </p:spPr>
        <p:txBody>
          <a:bodyPr/>
          <a:lstStyle/>
          <a:p>
            <a:endParaRPr lang="es-ES_tradnl"/>
          </a:p>
        </p:txBody>
      </p:sp>
      <p:sp>
        <p:nvSpPr>
          <p:cNvPr id="9" name="Text 6"/>
          <p:cNvSpPr txBox="1"/>
          <p:nvPr/>
        </p:nvSpPr>
        <p:spPr>
          <a:xfrm>
            <a:off x="6598768" y="3749040"/>
            <a:ext cx="4678528" cy="1463040"/>
          </a:xfrm>
          <a:prstGeom prst="rect">
            <a:avLst/>
          </a:prstGeom>
          <a:noFill/>
          <a:ln/>
        </p:spPr>
        <p:txBody>
          <a:bodyPr wrap="square" lIns="0" tIns="0" rIns="0" bIns="0" rtlCol="0" anchor="ctr"/>
          <a:lstStyle/>
          <a:p>
            <a:pPr marL="0" indent="0">
              <a:buNone/>
            </a:pPr>
            <a:r>
              <a:rPr lang="en-US" sz="1800" dirty="0">
                <a:solidFill>
                  <a:schemeClr val="bg1"/>
                </a:solidFill>
                <a:latin typeface="Arial" pitchFamily="34" charset="0"/>
                <a:ea typeface="Arial" pitchFamily="34" charset="-122"/>
                <a:cs typeface="Arial" pitchFamily="34" charset="-120"/>
              </a:rPr>
              <a:t>El timeout por comando acota el peor caso a 500 ms. Se necesitan las dos medidas.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685800"/>
          </a:xfrm>
          <a:prstGeom prst="rect">
            <a:avLst/>
          </a:prstGeom>
          <a:noFill/>
          <a:ln/>
        </p:spPr>
        <p:txBody>
          <a:bodyPr wrap="square" lIns="0" tIns="0" rIns="0" bIns="0" rtlCol="0" anchor="ctr"/>
          <a:lstStyle/>
          <a:p>
            <a:pPr marL="0" indent="0" algn="l">
              <a:buNone/>
            </a:pPr>
            <a:r>
              <a:rPr lang="en-US" sz="3600" b="1" dirty="0">
                <a:solidFill>
                  <a:schemeClr val="tx1"/>
                </a:solidFill>
              </a:rPr>
              <a:t>Conclusiones</a:t>
            </a:r>
            <a:endParaRPr lang="en-US" sz="3600" dirty="0"/>
          </a:p>
        </p:txBody>
      </p:sp>
      <p:sp>
        <p:nvSpPr>
          <p:cNvPr id="3" name="Text 0"/>
          <p:cNvSpPr>
            <a:spLocks noGrp="1"/>
          </p:cNvSpPr>
          <p:nvPr>
            <p:ph type="body" idx="101" hasCustomPrompt="1"/>
          </p:nvPr>
        </p:nvSpPr>
        <p:spPr>
          <a:xfrm>
            <a:off x="548640" y="6355080"/>
            <a:ext cx="6858000" cy="274320"/>
          </a:xfrm>
          <a:prstGeom prst="rect">
            <a:avLst/>
          </a:prstGeom>
          <a:noFill/>
          <a:ln/>
        </p:spPr>
        <p:txBody>
          <a:bodyPr wrap="square" lIns="0" tIns="0" rIns="0" bIns="0" rtlCol="0" anchor="ctr"/>
          <a:lstStyle/>
          <a:p>
            <a:pPr marL="0" indent="0">
              <a:buNone/>
            </a:pPr>
            <a:r>
              <a:rPr lang="en-US" sz="1100" dirty="0">
                <a:solidFill>
                  <a:schemeClr val="accent4"/>
                </a:solidFill>
              </a:rPr>
              <a:t>C · Resultados y conclusiones</a:t>
            </a:r>
            <a:endParaRPr lang="en-US" sz="1100" dirty="0"/>
          </a:p>
        </p:txBody>
      </p:sp>
      <p:sp>
        <p:nvSpPr>
          <p:cNvPr id="4" name="Text 0"/>
          <p:cNvSpPr>
            <a:spLocks noGrp="1"/>
          </p:cNvSpPr>
          <p:nvPr>
            <p:ph type="body" idx="102" hasCustomPrompt="1"/>
          </p:nvPr>
        </p:nvSpPr>
        <p:spPr>
          <a:xfrm>
            <a:off x="7589520" y="6355080"/>
            <a:ext cx="4053535" cy="274320"/>
          </a:xfrm>
          <a:prstGeom prst="rect">
            <a:avLst/>
          </a:prstGeom>
          <a:noFill/>
          <a:ln/>
        </p:spPr>
        <p:txBody>
          <a:bodyPr wrap="square" lIns="0" tIns="0" rIns="0" bIns="0" rtlCol="0" anchor="ctr"/>
          <a:lstStyle/>
          <a:p>
            <a:pPr marL="0" indent="0" algn="r">
              <a:buNone/>
            </a:pPr>
            <a:r>
              <a:rPr lang="en-US" sz="1100" dirty="0">
                <a:solidFill>
                  <a:schemeClr val="accent4"/>
                </a:solidFill>
              </a:rPr>
              <a:t>docs/estrategia.md §12</a:t>
            </a:r>
            <a:endParaRPr lang="en-US" sz="1100" dirty="0"/>
          </a:p>
        </p:txBody>
      </p:sp>
      <p:sp>
        <p:nvSpPr>
          <p:cNvPr id="5" name="Shape 3"/>
          <p:cNvSpPr/>
          <p:nvPr/>
        </p:nvSpPr>
        <p:spPr>
          <a:xfrm>
            <a:off x="548640" y="1554480"/>
            <a:ext cx="548640" cy="548640"/>
          </a:xfrm>
          <a:prstGeom prst="ellipse">
            <a:avLst/>
          </a:prstGeom>
          <a:solidFill>
            <a:schemeClr val="accent3"/>
          </a:solidFill>
          <a:ln/>
        </p:spPr>
        <p:txBody>
          <a:bodyPr/>
          <a:lstStyle/>
          <a:p>
            <a:endParaRPr lang="es-ES_tradnl"/>
          </a:p>
        </p:txBody>
      </p:sp>
      <p:sp>
        <p:nvSpPr>
          <p:cNvPr id="6" name="Text 4"/>
          <p:cNvSpPr txBox="1"/>
          <p:nvPr/>
        </p:nvSpPr>
        <p:spPr>
          <a:xfrm>
            <a:off x="548640" y="155448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417320" y="1417320"/>
            <a:ext cx="10225735" cy="822960"/>
          </a:xfrm>
          <a:prstGeom prst="rect">
            <a:avLst/>
          </a:prstGeom>
          <a:noFill/>
          <a:ln/>
        </p:spPr>
        <p:txBody>
          <a:bodyPr wrap="square" lIns="0" tIns="0" rIns="0" bIns="0" rtlCol="0" anchor="ctr"/>
          <a:lstStyle/>
          <a:p>
            <a:pPr marL="0" indent="0">
              <a:buNone/>
            </a:pPr>
            <a:r>
              <a:rPr lang="en-US" sz="2000" dirty="0">
                <a:solidFill>
                  <a:schemeClr val="tx1"/>
                </a:solidFill>
                <a:latin typeface="Arial" pitchFamily="34" charset="0"/>
                <a:ea typeface="Arial" pitchFamily="34" charset="-122"/>
                <a:cs typeface="Arial" pitchFamily="34" charset="-120"/>
              </a:rPr>
              <a:t>Cache-aside se comporta como se diseñó: el MISS carga desde PostgreSQL y el HIT devuelve el mismo JSON.</a:t>
            </a:r>
            <a:endParaRPr lang="en-US" sz="2000" dirty="0"/>
          </a:p>
        </p:txBody>
      </p:sp>
      <p:sp>
        <p:nvSpPr>
          <p:cNvPr id="8" name="Shape 6"/>
          <p:cNvSpPr/>
          <p:nvPr/>
        </p:nvSpPr>
        <p:spPr>
          <a:xfrm>
            <a:off x="548640" y="2743200"/>
            <a:ext cx="548640" cy="548640"/>
          </a:xfrm>
          <a:prstGeom prst="ellipse">
            <a:avLst/>
          </a:prstGeom>
          <a:solidFill>
            <a:schemeClr val="accent3"/>
          </a:solidFill>
          <a:ln/>
        </p:spPr>
        <p:txBody>
          <a:bodyPr/>
          <a:lstStyle/>
          <a:p>
            <a:endParaRPr lang="es-ES_tradnl"/>
          </a:p>
        </p:txBody>
      </p:sp>
      <p:sp>
        <p:nvSpPr>
          <p:cNvPr id="9" name="Text 7"/>
          <p:cNvSpPr txBox="1"/>
          <p:nvPr/>
        </p:nvSpPr>
        <p:spPr>
          <a:xfrm>
            <a:off x="548640" y="274320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417320" y="2606040"/>
            <a:ext cx="10225735" cy="822960"/>
          </a:xfrm>
          <a:prstGeom prst="rect">
            <a:avLst/>
          </a:prstGeom>
          <a:noFill/>
          <a:ln/>
        </p:spPr>
        <p:txBody>
          <a:bodyPr wrap="square" lIns="0" tIns="0" rIns="0" bIns="0" rtlCol="0" anchor="ctr"/>
          <a:lstStyle/>
          <a:p>
            <a:pPr marL="0" indent="0">
              <a:buNone/>
            </a:pPr>
            <a:r>
              <a:rPr lang="en-US" sz="2000" dirty="0">
                <a:solidFill>
                  <a:schemeClr val="tx1"/>
                </a:solidFill>
                <a:latin typeface="Arial" pitchFamily="34" charset="0"/>
                <a:ea typeface="Arial" pitchFamily="34" charset="-122"/>
                <a:cs typeface="Arial" pitchFamily="34" charset="-120"/>
              </a:rPr>
              <a:t>Invalidar en cada escritura evita datos viejos por la API; las escrituras externas solo las acota el TTL.</a:t>
            </a:r>
            <a:endParaRPr lang="en-US" sz="2000" dirty="0"/>
          </a:p>
        </p:txBody>
      </p:sp>
      <p:sp>
        <p:nvSpPr>
          <p:cNvPr id="11" name="Shape 9"/>
          <p:cNvSpPr/>
          <p:nvPr/>
        </p:nvSpPr>
        <p:spPr>
          <a:xfrm>
            <a:off x="548640" y="3931920"/>
            <a:ext cx="548640" cy="548640"/>
          </a:xfrm>
          <a:prstGeom prst="ellipse">
            <a:avLst/>
          </a:prstGeom>
          <a:solidFill>
            <a:schemeClr val="accent3"/>
          </a:solidFill>
          <a:ln/>
        </p:spPr>
        <p:txBody>
          <a:bodyPr/>
          <a:lstStyle/>
          <a:p>
            <a:endParaRPr lang="es-ES_tradnl"/>
          </a:p>
        </p:txBody>
      </p:sp>
      <p:sp>
        <p:nvSpPr>
          <p:cNvPr id="12" name="Text 10"/>
          <p:cNvSpPr txBox="1"/>
          <p:nvPr/>
        </p:nvSpPr>
        <p:spPr>
          <a:xfrm>
            <a:off x="548640" y="393192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3</a:t>
            </a:r>
            <a:endParaRPr lang="en-US" sz="1600" dirty="0"/>
          </a:p>
        </p:txBody>
      </p:sp>
      <p:sp>
        <p:nvSpPr>
          <p:cNvPr id="13" name="Text 11"/>
          <p:cNvSpPr txBox="1"/>
          <p:nvPr/>
        </p:nvSpPr>
        <p:spPr>
          <a:xfrm>
            <a:off x="1417320" y="3794760"/>
            <a:ext cx="10225735" cy="822960"/>
          </a:xfrm>
          <a:prstGeom prst="rect">
            <a:avLst/>
          </a:prstGeom>
          <a:noFill/>
          <a:ln/>
        </p:spPr>
        <p:txBody>
          <a:bodyPr wrap="square" lIns="0" tIns="0" rIns="0" bIns="0" rtlCol="0" anchor="ctr"/>
          <a:lstStyle/>
          <a:p>
            <a:pPr marL="0" indent="0">
              <a:buNone/>
            </a:pPr>
            <a:r>
              <a:rPr lang="en-US" sz="2000" dirty="0">
                <a:solidFill>
                  <a:schemeClr val="tx1"/>
                </a:solidFill>
                <a:latin typeface="Arial" pitchFamily="34" charset="0"/>
                <a:ea typeface="Arial" pitchFamily="34" charset="-122"/>
                <a:cs typeface="Arial" pitchFamily="34" charset="-120"/>
              </a:rPr>
              <a:t>La degradación depende de la configuración del cliente: sin cola fuera de línea y con timeout, Redis caído no tumba la API.</a:t>
            </a:r>
            <a:endParaRPr lang="en-US" sz="2000" dirty="0"/>
          </a:p>
        </p:txBody>
      </p:sp>
      <p:sp>
        <p:nvSpPr>
          <p:cNvPr id="14" name="Shape 12"/>
          <p:cNvSpPr/>
          <p:nvPr/>
        </p:nvSpPr>
        <p:spPr>
          <a:xfrm>
            <a:off x="548640" y="5120640"/>
            <a:ext cx="548640" cy="548640"/>
          </a:xfrm>
          <a:prstGeom prst="ellipse">
            <a:avLst/>
          </a:prstGeom>
          <a:solidFill>
            <a:schemeClr val="accent3"/>
          </a:solidFill>
          <a:ln/>
        </p:spPr>
        <p:txBody>
          <a:bodyPr/>
          <a:lstStyle/>
          <a:p>
            <a:endParaRPr lang="es-ES_tradnl"/>
          </a:p>
        </p:txBody>
      </p:sp>
      <p:sp>
        <p:nvSpPr>
          <p:cNvPr id="15" name="Text 13"/>
          <p:cNvSpPr txBox="1"/>
          <p:nvPr/>
        </p:nvSpPr>
        <p:spPr>
          <a:xfrm>
            <a:off x="548640" y="512064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4</a:t>
            </a:r>
            <a:endParaRPr lang="en-US" sz="1600" dirty="0"/>
          </a:p>
        </p:txBody>
      </p:sp>
      <p:sp>
        <p:nvSpPr>
          <p:cNvPr id="16" name="Text 14"/>
          <p:cNvSpPr txBox="1"/>
          <p:nvPr/>
        </p:nvSpPr>
        <p:spPr>
          <a:xfrm>
            <a:off x="1417320" y="4983480"/>
            <a:ext cx="10225735" cy="822960"/>
          </a:xfrm>
          <a:prstGeom prst="rect">
            <a:avLst/>
          </a:prstGeom>
          <a:noFill/>
          <a:ln/>
        </p:spPr>
        <p:txBody>
          <a:bodyPr wrap="square" lIns="0" tIns="0" rIns="0" bIns="0" rtlCol="0" anchor="ctr"/>
          <a:lstStyle/>
          <a:p>
            <a:pPr marL="0" indent="0">
              <a:buNone/>
            </a:pPr>
            <a:r>
              <a:rPr lang="en-US" sz="2000" dirty="0">
                <a:solidFill>
                  <a:schemeClr val="tx1"/>
                </a:solidFill>
                <a:latin typeface="Arial" pitchFamily="34" charset="0"/>
                <a:ea typeface="Arial" pitchFamily="34" charset="-122"/>
                <a:cs typeface="Arial" pitchFamily="34" charset="-120"/>
              </a:rPr>
              <a:t>Los tiempos son mediciones funcionales puntuales; no permiten concluir sobre rendimiento bajo carga.</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43374"/>
            <a:ext cx="11094415" cy="1737360"/>
          </a:xfrm>
          <a:prstGeom prst="rect">
            <a:avLst/>
          </a:prstGeom>
          <a:noFill/>
          <a:ln/>
        </p:spPr>
        <p:txBody>
          <a:bodyPr wrap="square" lIns="0" tIns="0" rIns="0" bIns="0" rtlCol="0" anchor="b"/>
          <a:lstStyle/>
          <a:p>
            <a:pPr marL="0" indent="0" algn="l">
              <a:buNone/>
            </a:pPr>
            <a:r>
              <a:rPr lang="en-US" sz="4800" b="1" dirty="0">
                <a:solidFill>
                  <a:schemeClr val="bg1"/>
                </a:solidFill>
              </a:rPr>
              <a:t>Preguntas</a:t>
            </a:r>
            <a:endParaRPr lang="en-US" sz="4800" dirty="0"/>
          </a:p>
        </p:txBody>
      </p:sp>
      <p:sp>
        <p:nvSpPr>
          <p:cNvPr id="3" name="Text 0"/>
          <p:cNvSpPr>
            <a:spLocks noGrp="1"/>
          </p:cNvSpPr>
          <p:nvPr>
            <p:ph type="body" idx="101" hasCustomPrompt="1"/>
          </p:nvPr>
        </p:nvSpPr>
        <p:spPr>
          <a:xfrm>
            <a:off x="548640" y="3611880"/>
            <a:ext cx="11094415" cy="548640"/>
          </a:xfrm>
          <a:prstGeom prst="rect">
            <a:avLst/>
          </a:prstGeom>
          <a:noFill/>
          <a:ln/>
        </p:spPr>
        <p:txBody>
          <a:bodyPr wrap="square" lIns="0" tIns="0" rIns="0" bIns="0" rtlCol="0" anchor="t"/>
          <a:lstStyle/>
          <a:p>
            <a:pPr marL="0" indent="0">
              <a:buNone/>
            </a:pPr>
            <a:r>
              <a:rPr lang="en-US" sz="2200" dirty="0">
                <a:solidFill>
                  <a:schemeClr val="accent6"/>
                </a:solidFill>
              </a:rPr>
              <a:t>Laboratorio: API con caché Redis y PostgreSQL</a:t>
            </a:r>
            <a:endParaRPr lang="en-US" sz="2200" dirty="0"/>
          </a:p>
        </p:txBody>
      </p:sp>
      <p:sp>
        <p:nvSpPr>
          <p:cNvPr id="4" name="Text 2"/>
          <p:cNvSpPr txBox="1"/>
          <p:nvPr/>
        </p:nvSpPr>
        <p:spPr>
          <a:xfrm>
            <a:off x="548640" y="4434840"/>
            <a:ext cx="5394960" cy="365760"/>
          </a:xfrm>
          <a:prstGeom prst="rect">
            <a:avLst/>
          </a:prstGeom>
          <a:noFill/>
          <a:ln/>
        </p:spPr>
        <p:txBody>
          <a:bodyPr wrap="square" lIns="0" tIns="0" rIns="0" bIns="0" rtlCol="0" anchor="t"/>
          <a:lstStyle/>
          <a:p>
            <a:pPr marL="0" indent="0">
              <a:buNone/>
            </a:pPr>
            <a:r>
              <a:rPr lang="en-US" sz="1500" b="1" dirty="0">
                <a:solidFill>
                  <a:schemeClr val="accent1"/>
                </a:solidFill>
                <a:latin typeface="Arial" pitchFamily="34" charset="0"/>
                <a:ea typeface="Arial" pitchFamily="34" charset="-122"/>
                <a:cs typeface="Arial" pitchFamily="34" charset="-120"/>
              </a:rPr>
              <a:t>Código</a:t>
            </a:r>
            <a:r>
              <a:rPr lang="en-US" sz="1500" dirty="0">
                <a:solidFill>
                  <a:schemeClr val="accent6"/>
                </a:solidFill>
                <a:latin typeface="Arial" pitchFamily="34" charset="0"/>
                <a:ea typeface="Arial" pitchFamily="34" charset="-122"/>
                <a:cs typeface="Arial" pitchFamily="34" charset="-120"/>
              </a:rPr>
              <a:t> · api/src, tests</a:t>
            </a:r>
            <a:endParaRPr lang="en-US" sz="1500" dirty="0"/>
          </a:p>
        </p:txBody>
      </p:sp>
      <p:sp>
        <p:nvSpPr>
          <p:cNvPr id="5" name="Text 3"/>
          <p:cNvSpPr txBox="1"/>
          <p:nvPr/>
        </p:nvSpPr>
        <p:spPr>
          <a:xfrm>
            <a:off x="6217920" y="4434840"/>
            <a:ext cx="5394960" cy="365760"/>
          </a:xfrm>
          <a:prstGeom prst="rect">
            <a:avLst/>
          </a:prstGeom>
          <a:noFill/>
          <a:ln/>
        </p:spPr>
        <p:txBody>
          <a:bodyPr wrap="square" lIns="0" tIns="0" rIns="0" bIns="0" rtlCol="0" anchor="t"/>
          <a:lstStyle/>
          <a:p>
            <a:pPr marL="0" indent="0">
              <a:buNone/>
            </a:pPr>
            <a:r>
              <a:rPr lang="en-US" sz="1500" b="1" dirty="0">
                <a:solidFill>
                  <a:schemeClr val="accent1"/>
                </a:solidFill>
                <a:latin typeface="Arial" pitchFamily="34" charset="0"/>
                <a:ea typeface="Arial" pitchFamily="34" charset="-122"/>
                <a:cs typeface="Arial" pitchFamily="34" charset="-120"/>
              </a:rPr>
              <a:t>Estrategia y análisis</a:t>
            </a:r>
            <a:r>
              <a:rPr lang="en-US" sz="1500" dirty="0">
                <a:solidFill>
                  <a:schemeClr val="accent6"/>
                </a:solidFill>
                <a:latin typeface="Arial" pitchFamily="34" charset="0"/>
                <a:ea typeface="Arial" pitchFamily="34" charset="-122"/>
                <a:cs typeface="Arial" pitchFamily="34" charset="-120"/>
              </a:rPr>
              <a:t> · docs/estrategia.md</a:t>
            </a:r>
            <a:endParaRPr lang="en-US" sz="1500" dirty="0"/>
          </a:p>
        </p:txBody>
      </p:sp>
      <p:sp>
        <p:nvSpPr>
          <p:cNvPr id="6" name="Text 4"/>
          <p:cNvSpPr txBox="1"/>
          <p:nvPr/>
        </p:nvSpPr>
        <p:spPr>
          <a:xfrm>
            <a:off x="548640" y="4846320"/>
            <a:ext cx="5394960" cy="365760"/>
          </a:xfrm>
          <a:prstGeom prst="rect">
            <a:avLst/>
          </a:prstGeom>
          <a:noFill/>
          <a:ln/>
        </p:spPr>
        <p:txBody>
          <a:bodyPr wrap="square" lIns="0" tIns="0" rIns="0" bIns="0" rtlCol="0" anchor="t"/>
          <a:lstStyle/>
          <a:p>
            <a:pPr marL="0" indent="0">
              <a:buNone/>
            </a:pPr>
            <a:r>
              <a:rPr lang="en-US" sz="1500" b="1" dirty="0">
                <a:solidFill>
                  <a:schemeClr val="accent1"/>
                </a:solidFill>
                <a:latin typeface="Arial" pitchFamily="34" charset="0"/>
                <a:ea typeface="Arial" pitchFamily="34" charset="-122"/>
                <a:cs typeface="Arial" pitchFamily="34" charset="-120"/>
              </a:rPr>
              <a:t>Matriz de casos</a:t>
            </a:r>
            <a:r>
              <a:rPr lang="en-US" sz="1500" dirty="0">
                <a:solidFill>
                  <a:schemeClr val="accent6"/>
                </a:solidFill>
                <a:latin typeface="Arial" pitchFamily="34" charset="0"/>
                <a:ea typeface="Arial" pitchFamily="34" charset="-122"/>
                <a:cs typeface="Arial" pitchFamily="34" charset="-120"/>
              </a:rPr>
              <a:t> · docs/matriz-casos.xlsx</a:t>
            </a:r>
            <a:endParaRPr lang="en-US" sz="1500" dirty="0"/>
          </a:p>
        </p:txBody>
      </p:sp>
      <p:sp>
        <p:nvSpPr>
          <p:cNvPr id="7" name="Text 5"/>
          <p:cNvSpPr txBox="1"/>
          <p:nvPr/>
        </p:nvSpPr>
        <p:spPr>
          <a:xfrm>
            <a:off x="6217920" y="4846320"/>
            <a:ext cx="5394960" cy="365760"/>
          </a:xfrm>
          <a:prstGeom prst="rect">
            <a:avLst/>
          </a:prstGeom>
          <a:noFill/>
          <a:ln/>
        </p:spPr>
        <p:txBody>
          <a:bodyPr wrap="square" lIns="0" tIns="0" rIns="0" bIns="0" rtlCol="0" anchor="t"/>
          <a:lstStyle/>
          <a:p>
            <a:pPr marL="0" indent="0">
              <a:buNone/>
            </a:pPr>
            <a:r>
              <a:rPr lang="en-US" sz="1500" b="1" dirty="0">
                <a:solidFill>
                  <a:schemeClr val="accent1"/>
                </a:solidFill>
                <a:latin typeface="Arial" pitchFamily="34" charset="0"/>
                <a:ea typeface="Arial" pitchFamily="34" charset="-122"/>
                <a:cs typeface="Arial" pitchFamily="34" charset="-120"/>
              </a:rPr>
              <a:t>Evidencias</a:t>
            </a:r>
            <a:r>
              <a:rPr lang="en-US" sz="1500" dirty="0">
                <a:solidFill>
                  <a:schemeClr val="accent6"/>
                </a:solidFill>
                <a:latin typeface="Arial" pitchFamily="34" charset="0"/>
                <a:ea typeface="Arial" pitchFamily="34" charset="-122"/>
                <a:cs typeface="Arial" pitchFamily="34" charset="-120"/>
              </a:rPr>
              <a:t> · docs/evidencias</a:t>
            </a:r>
            <a:endParaRPr lang="en-US" sz="1500" dirty="0"/>
          </a:p>
        </p:txBody>
      </p:sp>
      <p:sp>
        <p:nvSpPr>
          <p:cNvPr id="8" name="Text 6"/>
          <p:cNvSpPr txBox="1"/>
          <p:nvPr/>
        </p:nvSpPr>
        <p:spPr>
          <a:xfrm>
            <a:off x="548640" y="5257800"/>
            <a:ext cx="5394960" cy="365760"/>
          </a:xfrm>
          <a:prstGeom prst="rect">
            <a:avLst/>
          </a:prstGeom>
          <a:noFill/>
          <a:ln/>
        </p:spPr>
        <p:txBody>
          <a:bodyPr wrap="square" lIns="0" tIns="0" rIns="0" bIns="0" rtlCol="0" anchor="t"/>
          <a:lstStyle/>
          <a:p>
            <a:pPr marL="0" indent="0">
              <a:buNone/>
            </a:pPr>
            <a:r>
              <a:rPr lang="en-US" sz="1500" b="1" dirty="0">
                <a:solidFill>
                  <a:schemeClr val="accent1"/>
                </a:solidFill>
                <a:latin typeface="Arial" pitchFamily="34" charset="0"/>
                <a:ea typeface="Arial" pitchFamily="34" charset="-122"/>
                <a:cs typeface="Arial" pitchFamily="34" charset="-120"/>
              </a:rPr>
              <a:t>Scripts de falla</a:t>
            </a:r>
            <a:r>
              <a:rPr lang="en-US" sz="1500" dirty="0">
                <a:solidFill>
                  <a:schemeClr val="accent6"/>
                </a:solidFill>
                <a:latin typeface="Arial" pitchFamily="34" charset="0"/>
                <a:ea typeface="Arial" pitchFamily="34" charset="-122"/>
                <a:cs typeface="Arial" pitchFamily="34" charset="-120"/>
              </a:rPr>
              <a:t> · scripts</a:t>
            </a:r>
            <a:endParaRPr lang="en-US" sz="1500" dirty="0"/>
          </a:p>
        </p:txBody>
      </p:sp>
      <p:sp>
        <p:nvSpPr>
          <p:cNvPr id="9" name="Text 7"/>
          <p:cNvSpPr txBox="1"/>
          <p:nvPr/>
        </p:nvSpPr>
        <p:spPr>
          <a:xfrm>
            <a:off x="6217920" y="5257800"/>
            <a:ext cx="5394960" cy="365760"/>
          </a:xfrm>
          <a:prstGeom prst="rect">
            <a:avLst/>
          </a:prstGeom>
          <a:noFill/>
          <a:ln/>
        </p:spPr>
        <p:txBody>
          <a:bodyPr wrap="square" lIns="0" tIns="0" rIns="0" bIns="0" rtlCol="0" anchor="t"/>
          <a:lstStyle/>
          <a:p>
            <a:pPr marL="0" indent="0">
              <a:buNone/>
            </a:pPr>
            <a:r>
              <a:rPr lang="en-US" sz="1500" b="1" dirty="0">
                <a:solidFill>
                  <a:schemeClr val="accent1"/>
                </a:solidFill>
                <a:latin typeface="Arial" pitchFamily="34" charset="0"/>
                <a:ea typeface="Arial" pitchFamily="34" charset="-122"/>
                <a:cs typeface="Arial" pitchFamily="34" charset="-120"/>
              </a:rPr>
              <a:t>Instalación</a:t>
            </a:r>
            <a:r>
              <a:rPr lang="en-US" sz="1500" dirty="0">
                <a:solidFill>
                  <a:schemeClr val="accent6"/>
                </a:solidFill>
                <a:latin typeface="Arial" pitchFamily="34" charset="0"/>
                <a:ea typeface="Arial" pitchFamily="34" charset="-122"/>
                <a:cs typeface="Arial" pitchFamily="34" charset="-120"/>
              </a:rPr>
              <a:t> · README.md</a:t>
            </a:r>
            <a:endParaRPr lang="en-US" sz="1500" dirty="0"/>
          </a:p>
        </p:txBody>
      </p:sp>
      <p:sp>
        <p:nvSpPr>
          <p:cNvPr id="10" name="Text 8"/>
          <p:cNvSpPr txBox="1"/>
          <p:nvPr/>
        </p:nvSpPr>
        <p:spPr>
          <a:xfrm>
            <a:off x="670712" y="6062892"/>
            <a:ext cx="11094415" cy="320040"/>
          </a:xfrm>
          <a:prstGeom prst="rect">
            <a:avLst/>
          </a:prstGeom>
          <a:noFill/>
          <a:ln/>
        </p:spPr>
        <p:txBody>
          <a:bodyPr wrap="square" lIns="0" tIns="0" rIns="0" bIns="0" rtlCol="0" anchor="t"/>
          <a:lstStyle/>
          <a:p>
            <a:r>
              <a:rPr lang="en-US" sz="1300" dirty="0">
                <a:solidFill>
                  <a:schemeClr val="accent6"/>
                </a:solidFill>
                <a:latin typeface="Arial" pitchFamily="34" charset="0"/>
                <a:ea typeface="Arial" pitchFamily="34" charset="-122"/>
                <a:cs typeface="Arial" pitchFamily="34" charset="-120"/>
                <a:hlinkClick r:id="rId3"/>
              </a:rPr>
              <a:t>https://github.com/SebastianVillaC/lab-cache</a:t>
            </a:r>
            <a:r>
              <a:rPr lang="en-US" sz="1300" dirty="0">
                <a:solidFill>
                  <a:schemeClr val="accent6"/>
                </a:solidFill>
                <a:latin typeface="Arial" pitchFamily="34" charset="0"/>
                <a:ea typeface="Arial" pitchFamily="34" charset="-122"/>
                <a:cs typeface="Arial" pitchFamily="34" charset="-120"/>
              </a:rPr>
              <a:t>. </a:t>
            </a:r>
            <a:endParaRPr lang="en-US" sz="1300" dirty="0"/>
          </a:p>
        </p:txBody>
      </p:sp>
    </p:spTree>
  </p:cSld>
  <p:clrMapOvr>
    <a:masterClrMapping/>
  </p:clrMapOvr>
</p:sld>
</file>

<file path=ppt/theme/theme1.xml><?xml version="1.0" encoding="utf-8"?>
<a:theme xmlns:a="http://schemas.openxmlformats.org/drawingml/2006/main" name="Lab Cache">
  <a:themeElements>
    <a:clrScheme name="Lab Cache">
      <a:dk1>
        <a:srgbClr val="1B2430"/>
      </a:dk1>
      <a:lt1>
        <a:srgbClr val="FFFFFF"/>
      </a:lt1>
      <a:dk2>
        <a:srgbClr val="3D4752"/>
      </a:dk2>
      <a:lt2>
        <a:srgbClr val="F3F4F6"/>
      </a:lt2>
      <a:accent1>
        <a:srgbClr val="E07A2F"/>
      </a:accent1>
      <a:accent2>
        <a:srgbClr val="2F6FB0"/>
      </a:accent2>
      <a:accent3>
        <a:srgbClr val="B5541B"/>
      </a:accent3>
      <a:accent4>
        <a:srgbClr val="5B6672"/>
      </a:accent4>
      <a:accent5>
        <a:srgbClr val="243142"/>
      </a:accent5>
      <a:accent6>
        <a:srgbClr val="BFC8D2"/>
      </a:accent6>
      <a:hlink>
        <a:srgbClr val="2F6FB0"/>
      </a:hlink>
      <a:folHlink>
        <a:srgbClr val="5B6672"/>
      </a:folHlink>
    </a:clrScheme>
    <a:fontScheme name="Lab Cach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2835</Words>
  <Application>Microsoft Macintosh PowerPoint</Application>
  <PresentationFormat>Widescreen</PresentationFormat>
  <Paragraphs>293</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Courier New</vt:lpstr>
      <vt:lpstr>Lab Cache</vt:lpstr>
      <vt:lpstr>Pruebas de una arquitectura con caché</vt:lpstr>
      <vt:lpstr>Qué debe demostrar el laboratorio</vt:lpstr>
      <vt:lpstr>Arquitectura: API REST con cache-aside</vt:lpstr>
      <vt:lpstr>Lectura: MISS y HIT</vt:lpstr>
      <vt:lpstr>Escritura con invalidación y Redis caído</vt:lpstr>
      <vt:lpstr>Estrategia: componentes reales, sin mocks</vt:lpstr>
      <vt:lpstr>Puntos de integración</vt:lpstr>
      <vt:lpstr>Riesgos y cómo se mitigan</vt:lpstr>
      <vt:lpstr>8 casos de prueba, 6 automatizados</vt:lpstr>
      <vt:lpstr>Demostración en vivo</vt:lpstr>
      <vt:lpstr>Resultados: los 8 casos aprobados</vt:lpstr>
      <vt:lpstr>Tiempos observados según el origen</vt:lpstr>
      <vt:lpstr>H-01: el cliente por defecto bloquea la API</vt:lpstr>
      <vt:lpstr>Conclusiones</vt:lpstr>
      <vt:lpstr>Preguntas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Pruebas de una arquitectura con caché</dc:title>
  <dc:subject>Estrategias de pruebas de integración y de sistema</dc:subject>
  <dc:creator>PptxGenJS</dc:creator>
  <cp:lastModifiedBy>Sebastian Villa Castillo</cp:lastModifiedBy>
  <cp:revision>3</cp:revision>
  <dcterms:created xsi:type="dcterms:W3CDTF">2026-10-04T20:47:29Z</dcterms:created>
  <dcterms:modified xsi:type="dcterms:W3CDTF">2026-10-04T20:56:39Z</dcterms:modified>
</cp:coreProperties>
</file>